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Decision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for automated, explainable, regulator-grade onboarding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828800" cy="27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FSC-Aligned   |   DPA 2017 Compliant   |   AI Governance Ready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6576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44805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is Broken at the Decision Layer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844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188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onboarding is manual, inconsistent, and not scalable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31520" y="1783080"/>
            <a:ext cx="7680960" cy="502920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928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1783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depend on individual analyst judgement — no standardised logic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8716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2377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digitise workflows — they don't make decisions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731520" y="2971800"/>
            <a:ext cx="7680960" cy="502920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81528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1600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require explainability, auditability, and accountability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731520" y="3566160"/>
            <a:ext cx="7680960" cy="502920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675888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71600" y="3566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cannot scale onboarding without increasing risk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731520" y="4297680"/>
            <a:ext cx="768096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1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3" name="Text 1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Workflow Automation to Decision Infrastructure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474720" cy="27432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347472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checklists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per analyst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8712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decisions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2552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for reasoning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639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scale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651760"/>
            <a:ext cx="365760" cy="365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937760" y="1554480"/>
            <a:ext cx="3474720" cy="27432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37760" y="1554480"/>
            <a:ext cx="347472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Text 13"/>
          <p:cNvSpPr/>
          <p:nvPr/>
        </p:nvSpPr>
        <p:spPr>
          <a:xfrm>
            <a:off x="521208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WORLD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1208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decision systems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12080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reasoning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12080" y="28712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12080" y="32552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validation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212080" y="3639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at scale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40233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Onboarda: AI Compliance Decision Engine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system that doesn't just digitise compliance — it makes decisions.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1664208"/>
            <a:ext cx="365760" cy="36576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73736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onboarding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0" y="1600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application intake to final compliance decision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2194560"/>
            <a:ext cx="768096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" y="2258568"/>
            <a:ext cx="365760" cy="36576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33172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Regulator-grade decisions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114800" y="2194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Structured, reasoned outputs aligned with FATF standards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1520" y="2788920"/>
            <a:ext cx="768096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8" name="Shape 13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92608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2788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compliance memos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114800" y="2788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decision documented with full reasoning chain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31520" y="3383280"/>
            <a:ext cx="768096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3" name="Shape 17"/>
          <p:cNvSpPr/>
          <p:nvPr/>
        </p:nvSpPr>
        <p:spPr>
          <a:xfrm>
            <a:off x="914400" y="3447288"/>
            <a:ext cx="365760" cy="36576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52044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6304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+ validation rules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114800" y="3383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 rule engine prevents contradictory outputs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8" name="Shape 21"/>
          <p:cNvSpPr/>
          <p:nvPr/>
        </p:nvSpPr>
        <p:spPr>
          <a:xfrm>
            <a:off x="914400" y="4041648"/>
            <a:ext cx="365760" cy="36576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11480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6304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governance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114800" y="3977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augments officers — never auto-approves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731520" y="4572000"/>
            <a:ext cx="7680960" cy="27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3" name="Text 2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COMPLIANCE INFRASTRUCTURE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468880" cy="32918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246888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1463040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15636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onboarding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Pre-screening + data capture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+ declarations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3557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5840" y="3904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566160" y="1280160"/>
            <a:ext cx="2468880" cy="32918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66160" y="1280160"/>
            <a:ext cx="24688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Shape 14"/>
          <p:cNvSpPr/>
          <p:nvPr/>
        </p:nvSpPr>
        <p:spPr>
          <a:xfrm>
            <a:off x="4480560" y="1463040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563624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4904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84048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(10 agents)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840480" y="2862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+ memo generation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84048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supervisor layer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840480" y="3557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engine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840480" y="3904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outputs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00800" y="1280160"/>
            <a:ext cx="2468880" cy="32918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00800" y="1280160"/>
            <a:ext cx="246888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Shape 23"/>
          <p:cNvSpPr/>
          <p:nvPr/>
        </p:nvSpPr>
        <p:spPr>
          <a:xfrm>
            <a:off x="7315200" y="1463040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1563624"/>
            <a:ext cx="301752" cy="30175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8368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Back Office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67512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675120" y="2862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review + override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67512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675120" y="3557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675120" y="3904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Explainable. Auditable. Deterministic.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23444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Email, VPN, duplicate checks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96596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176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Sector &amp; model plausibility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60604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269748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Verification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 automated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342900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Narrative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Coherence &amp; benchmark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416052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 Mapping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Ownership chain trace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14300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1" name="Shape 29"/>
          <p:cNvSpPr/>
          <p:nvPr/>
        </p:nvSpPr>
        <p:spPr>
          <a:xfrm>
            <a:off x="4983480" y="123444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FinCrime Intel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Sanctions, PEP, media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87452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6" name="Shape 34"/>
          <p:cNvSpPr/>
          <p:nvPr/>
        </p:nvSpPr>
        <p:spPr>
          <a:xfrm>
            <a:off x="4983480" y="196596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Funds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2176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Plausibility analysis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260604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1" name="Shape 39"/>
          <p:cNvSpPr/>
          <p:nvPr/>
        </p:nvSpPr>
        <p:spPr>
          <a:xfrm>
            <a:off x="4983480" y="269748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321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5-dim composite score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33756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6" name="Shape 44"/>
          <p:cNvSpPr/>
          <p:nvPr/>
        </p:nvSpPr>
        <p:spPr>
          <a:xfrm>
            <a:off x="4983480" y="342900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7" name="Text 45"/>
          <p:cNvSpPr/>
          <p:nvPr/>
        </p:nvSpPr>
        <p:spPr>
          <a:xfrm>
            <a:off x="49834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3212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3212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Auto-generated report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06908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51" name="Shape 49"/>
          <p:cNvSpPr/>
          <p:nvPr/>
        </p:nvSpPr>
        <p:spPr>
          <a:xfrm>
            <a:off x="4983480" y="416052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2" name="Text 50"/>
          <p:cNvSpPr/>
          <p:nvPr/>
        </p:nvSpPr>
        <p:spPr>
          <a:xfrm>
            <a:off x="49834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3212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532120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rescreening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contributes to a unified decision reasoning chain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Logic-Enforced AI (Not Black Box)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4754880" cy="7315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2588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Engine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544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Standardised logic across every case — no analyst variance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057400"/>
            <a:ext cx="4754880" cy="7315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860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Contradictions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5544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Supervisor layer detects and resolves conflicting agent outputs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2926080"/>
            <a:ext cx="4754880" cy="7315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306324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546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5544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decision scored for quality before reaching an officer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1520" y="3794760"/>
            <a:ext cx="4754880" cy="7315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233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5544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Agent-by-agent reasoning chain visible to auditors and regulators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852160" y="1188720"/>
            <a:ext cx="2743200" cy="32004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6" name="Text 20"/>
          <p:cNvSpPr/>
          <p:nvPr/>
        </p:nvSpPr>
        <p:spPr>
          <a:xfrm>
            <a:off x="603504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is: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03504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8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603504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8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Auditable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603504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8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Defensible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FATF-ALIGNED RISK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Multi-Dimensional Risk Scoring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411480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1234440" cy="502920"/>
          </a:xfrm>
          <a:prstGeom prst="rect">
            <a:avLst/>
          </a:prstGeom>
          <a:solidFill>
            <a:srgbClr val="00C9A7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88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Entity 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1887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411480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828800"/>
            <a:ext cx="1028700" cy="50292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Risk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411480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468880"/>
            <a:ext cx="822960" cy="502920"/>
          </a:xfrm>
          <a:prstGeom prst="rect">
            <a:avLst/>
          </a:prstGeom>
          <a:solidFill>
            <a:srgbClr val="9B59B6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68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Service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468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411480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108960"/>
            <a:ext cx="617220" cy="502920"/>
          </a:xfrm>
          <a:prstGeom prst="rect">
            <a:avLst/>
          </a:prstGeom>
          <a:solidFill>
            <a:srgbClr val="E67E22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Sector 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411480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749040"/>
            <a:ext cx="411480" cy="502920"/>
          </a:xfrm>
          <a:prstGeom prst="rect">
            <a:avLst/>
          </a:prstGeom>
          <a:solidFill>
            <a:srgbClr val="E74C3C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749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749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Routing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0" y="1554480"/>
            <a:ext cx="32004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0" y="1554480"/>
            <a:ext cx="54864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1581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1856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0-39  |  &lt; 1 day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2286000"/>
            <a:ext cx="32004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0" y="2286000"/>
            <a:ext cx="54864" cy="59436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2313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1500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40-54  |  2-3 days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3017520"/>
            <a:ext cx="32004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0" y="3017520"/>
            <a:ext cx="54864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15000" y="3319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55-69  |  5-7 days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3749040"/>
            <a:ext cx="32004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0" y="374904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0" name="Text 38"/>
          <p:cNvSpPr/>
          <p:nvPr/>
        </p:nvSpPr>
        <p:spPr>
          <a:xfrm>
            <a:off x="571500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15000" y="4050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70-100  |  7-14 days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Regulator-Grade Outputs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4114800" cy="32004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 includes: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compliance assessment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explanation with factor weights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505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identified + mitigating factors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889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rationale with reasoning chain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per dimension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 evidence citations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1188720"/>
            <a:ext cx="3383280" cy="32004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1783080"/>
            <a:ext cx="411480" cy="41148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696" y="1865376"/>
            <a:ext cx="246888" cy="2468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03504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35040" y="2039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format meets FSC and FATF documentation standards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0" y="2606040"/>
            <a:ext cx="411480" cy="41148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696" y="2688336"/>
            <a:ext cx="246888" cy="2468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35040" y="2587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035040" y="2862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 evidence chain from data intake to final decision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486400" y="3429000"/>
            <a:ext cx="411480" cy="41148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3511296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3504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Governance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035040" y="3685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Board-ready reporting with risk trend analysis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5661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Decision Transparency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black box — full traceability from data intake to final decision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325880"/>
            <a:ext cx="7680960" cy="6400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1389888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11680" y="1389888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sp>
        <p:nvSpPr>
          <p:cNvPr id="12" name="Text 9"/>
          <p:cNvSpPr/>
          <p:nvPr/>
        </p:nvSpPr>
        <p:spPr>
          <a:xfrm>
            <a:off x="201168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83080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063240" y="1389888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sp>
        <p:nvSpPr>
          <p:cNvPr id="15" name="Text 12"/>
          <p:cNvSpPr/>
          <p:nvPr/>
        </p:nvSpPr>
        <p:spPr>
          <a:xfrm>
            <a:off x="306324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834640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0" y="1389888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886200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166360" y="1389888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sp>
        <p:nvSpPr>
          <p:cNvPr id="21" name="Text 18"/>
          <p:cNvSpPr/>
          <p:nvPr/>
        </p:nvSpPr>
        <p:spPr>
          <a:xfrm>
            <a:off x="516636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37760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9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17920" y="1389888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89320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10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269480" y="1389888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7" name="Text 24"/>
          <p:cNvSpPr/>
          <p:nvPr/>
        </p:nvSpPr>
        <p:spPr>
          <a:xfrm>
            <a:off x="726948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40880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31520" y="2468880"/>
            <a:ext cx="3657600" cy="8229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0" name="Shape 27"/>
          <p:cNvSpPr/>
          <p:nvPr/>
        </p:nvSpPr>
        <p:spPr>
          <a:xfrm>
            <a:off x="868680" y="265176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43200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46304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Pathway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chain from Agent 1 through Agent 10 with each agent's contribution visible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846320" y="2468880"/>
            <a:ext cx="3657600" cy="8229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5" name="Shape 31"/>
          <p:cNvSpPr/>
          <p:nvPr/>
        </p:nvSpPr>
        <p:spPr>
          <a:xfrm>
            <a:off x="4983480" y="265176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743200"/>
            <a:ext cx="274320" cy="2743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57784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Breakdown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5577840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Per-dimension scoring with individual factor weights and explanations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731520" y="3474720"/>
            <a:ext cx="3657600" cy="8229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0" name="Shape 35"/>
          <p:cNvSpPr/>
          <p:nvPr/>
        </p:nvSpPr>
        <p:spPr>
          <a:xfrm>
            <a:off x="868680" y="365760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749040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4630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Drivers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1463040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drove the AI's confidence level — and where uncertainty remains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4846320" y="3474720"/>
            <a:ext cx="3657600" cy="8229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5" name="Shape 39"/>
          <p:cNvSpPr/>
          <p:nvPr/>
        </p:nvSpPr>
        <p:spPr>
          <a:xfrm>
            <a:off x="4983480" y="365760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749040"/>
            <a:ext cx="274320" cy="27432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5778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Validation</a:t>
            </a:r>
            <a:endParaRPr lang="en-US" sz="1300" dirty="0"/>
          </a:p>
        </p:txBody>
      </p:sp>
      <p:sp>
        <p:nvSpPr>
          <p:cNvPr id="48" name="Text 41"/>
          <p:cNvSpPr/>
          <p:nvPr/>
        </p:nvSpPr>
        <p:spPr>
          <a:xfrm>
            <a:off x="5577840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Contradiction checks and consensus scoring across all agent outputs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CONTROL CENTER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 Office = Governance Layer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132588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 Score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decision quality-scored before officer review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66160" y="118872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132588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490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Supervisor flags conflicting agent signals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0" y="118872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0" y="132588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173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Escalation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836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Workflow-driven escalation to senior officers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31520" y="283464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645920" y="297180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0632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Controls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1440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roles, 18 permissions, full RBAC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566160" y="283464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0560" y="297180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0632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4904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74904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Immutable records: user, action, timestamp, IP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400800" y="283464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315200" y="297180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306324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8368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Workflow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58368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Draft to filed — complete state machine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regulator scrutiny from day one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Regulated Financial Institutions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4114800" cy="5486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FIAMLA 2002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AML obligations, STR reporting, 7-year retention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4114800" cy="5486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828800"/>
            <a:ext cx="54864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FIAMLR 2018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PEP declarations, EDD triggers, ongoing monitoring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4114800" cy="5486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468880"/>
            <a:ext cx="54864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Act 2007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Licensing for Payment Intermediary Services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4114800" cy="5486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108960"/>
            <a:ext cx="54864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Standards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Risk-Based Approach, 5-dimension scoring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4114800" cy="5486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749040"/>
            <a:ext cx="54864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2017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023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Consent gates, data minimisation, right to erasure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1188720"/>
            <a:ext cx="3383280" cy="32004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0" y="1188720"/>
            <a:ext cx="338328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Built-In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decisioning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override capability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DPIA-ready architecture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auto-approval — ever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for FCA, AMLD6, CBUAE, MAS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411480" cy="41148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5661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Data Protection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Enterprise-grade security model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280160"/>
            <a:ext cx="3657600" cy="8686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148132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463040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prompts sanitised — no raw PII sent to language models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846320" y="1280160"/>
            <a:ext cx="3657600" cy="8686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3" name="Shape 9"/>
          <p:cNvSpPr/>
          <p:nvPr/>
        </p:nvSpPr>
        <p:spPr>
          <a:xfrm>
            <a:off x="4983480" y="148132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57276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778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577840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PII encrypted at rest and in transit. JWT with httpOnly cookies.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31520" y="2377440"/>
            <a:ext cx="3657600" cy="8686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8" name="Shape 13"/>
          <p:cNvSpPr/>
          <p:nvPr/>
        </p:nvSpPr>
        <p:spPr>
          <a:xfrm>
            <a:off x="868680" y="257860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67004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463040" y="2761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roles, 18 granular permissions. Principle of least privilege.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846320" y="2377440"/>
            <a:ext cx="3657600" cy="8686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3" name="Shape 17"/>
          <p:cNvSpPr/>
          <p:nvPr/>
        </p:nvSpPr>
        <p:spPr>
          <a:xfrm>
            <a:off x="4983480" y="257860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67004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778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577840" y="2761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action: user, role, timestamp, IP address, details.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31520" y="3474720"/>
            <a:ext cx="3657600" cy="8686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8" name="Shape 21"/>
          <p:cNvSpPr/>
          <p:nvPr/>
        </p:nvSpPr>
        <p:spPr>
          <a:xfrm>
            <a:off x="868680" y="367588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76732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630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1463040" y="3858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Pattern filtering, HTML stripping, input length limits on all AI-bound input.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846320" y="3474720"/>
            <a:ext cx="3657600" cy="8686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3" name="Shape 25"/>
          <p:cNvSpPr/>
          <p:nvPr/>
        </p:nvSpPr>
        <p:spPr>
          <a:xfrm>
            <a:off x="4983480" y="367588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767328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5778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Ready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5577840" y="3858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File upload validation, XSS prevention, rate-limited endpoints.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Onboarda Wins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18872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Explainability Layer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170432"/>
            <a:ext cx="1097280" cy="22860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297680" y="1170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54480" y="14173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decision transparency from agent to output. Competitors offer black-box scoring.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192024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Engine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297680" y="1901952"/>
            <a:ext cx="1097280" cy="22860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297680" y="1901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554480" y="21488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Auto-generated, regulator-grade compliance memos with reasoning chains. No competitor does this.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0" name="Shape 16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4320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+ Validation System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297680" y="2633472"/>
            <a:ext cx="1097280" cy="22860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4297680" y="2633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55448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 rule engine prevents contradictory AI outputs. Essential for regulatory trust.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7" name="Shape 22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7472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5448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Layer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4297680" y="3364992"/>
            <a:ext cx="1097280" cy="22860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4297680" y="3364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554480" y="3611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Multi-agent contradiction detection and consensus scoring. Architectural advantage.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4" name="Shape 28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06240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55448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Regulators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4297680" y="4096512"/>
            <a:ext cx="1097280" cy="22860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4297680" y="4096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1554480" y="43434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Designed to meet regulator expectations, not just user needs. This is the hardest thing to replicate.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replicate. Built over months of regulated-environment iteration.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Financial Institution Needs This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4630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RegTech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188720"/>
            <a:ext cx="1828800" cy="14630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71800" y="1920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188720"/>
            <a:ext cx="1828800" cy="14630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8,000+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74920" y="1920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PSPs &amp; CSPs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EU/EEA alone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1188720"/>
            <a:ext cx="1828800" cy="14630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$5-15K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178040" y="1920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manual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Drivers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regulatory pressure globally — fines for AML failures at record highs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764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accelerating in financial services — demand for explainable 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2394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costs rising faster than revenue — firms need automation, not more headcount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47141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financial institution needs a scalable compliance decision 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a Regulated Partner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20116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768096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ARIE Finance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FSC-Licensed Payment Intermediary Service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Pilot-ready platform developed under real regulatory requirements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underlying clients to be onboarded through Onboarda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workflow tested with regulated use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063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shaped by actual compliance officer feedback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66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aligned with a licensed financial institution — not building in a vacuum.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Designed for Recurring Revenue + Scale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468880" cy="32918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2468880" cy="36576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$1,500/mo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 applications/mo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agents active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user seats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(white-label)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584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risk 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188720"/>
            <a:ext cx="2468880" cy="3291840"/>
          </a:xfrm>
          <a:prstGeom prst="rect">
            <a:avLst/>
          </a:prstGeom>
          <a:solidFill>
            <a:srgbClr val="2432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1188720"/>
            <a:ext cx="246888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Shape 14"/>
          <p:cNvSpPr/>
          <p:nvPr/>
        </p:nvSpPr>
        <p:spPr>
          <a:xfrm>
            <a:off x="3977640" y="1024128"/>
            <a:ext cx="1645920" cy="2286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3977640" y="10241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4904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$3,500/mo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404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applications/mo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AI agents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 seats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back-office suite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3584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+ SLA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188720"/>
            <a:ext cx="2468880" cy="32918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1188720"/>
            <a:ext cx="2468880" cy="36576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7512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applications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agent rules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 + SSO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Multi-jurisdiction config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3584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plans: one-time setup fee (from $5,000)  |  Annual licence  |  Free updates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Efficiency + Risk Reduction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23774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15 days to under 48 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188720"/>
            <a:ext cx="1828800" cy="23774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118872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97180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Handle 10x volume without hiring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188720"/>
            <a:ext cx="1828800" cy="23774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18872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7492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handles screening, scoring, memos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1188720"/>
            <a:ext cx="1828800" cy="23774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118872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17804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Standardised logic, zero analyst variance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50+ onboardings per year, the platform pays for itself within months.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the Compliance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of the Future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2286000" cy="27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become the default AI compliance infrastructure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financial institutions globally.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product — a platform layer.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Transform Your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Operations?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46888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233172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30-minute session to understand your compliance requirements and pain 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194560"/>
            <a:ext cx="246888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33172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Demo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walkthrough of the platform configured for your specific use case and jurisdiction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194560"/>
            <a:ext cx="246888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233172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4-week proof-of-concept with your real data and compliance workflows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7680960" cy="27432"/>
          </a:xfrm>
          <a:prstGeom prst="rect">
            <a:avLst/>
          </a:prstGeom>
          <a:solidFill>
            <a:srgbClr val="00C9A7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asudally@ariefinance.mu  |  ariefinance.mu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Onboarda — AI Compliance Decision Engine</dc:title>
  <dc:subject>PptxGenJS Presentation</dc:subject>
  <dc:creator>Onboarda</dc:creator>
  <cp:lastModifiedBy>Onboarda</cp:lastModifiedBy>
  <cp:revision>1</cp:revision>
  <dcterms:created xsi:type="dcterms:W3CDTF">2026-03-21T17:57:14Z</dcterms:created>
  <dcterms:modified xsi:type="dcterms:W3CDTF">2026-03-21T17:57:14Z</dcterms:modified>
</cp:coreProperties>
</file>