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6"/>
  </p:normalViewPr>
  <p:slideViewPr>
    <p:cSldViewPr snapToGrid="0" snapToObjects="1">
      <p:cViewPr varScale="1">
        <p:scale>
          <a:sx n="130" d="100"/>
          <a:sy n="130" d="100"/>
        </p:scale>
        <p:origin x="10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712E"/>
                </a:solidFill>
                <a:latin typeface="Calibri"/>
              </a:defRPr>
            </a:pPr>
            <a:r>
              <a:rPr dirty="0"/>
              <a:t>ONBOARDA</a:t>
            </a:r>
            <a:r>
              <a:rPr lang="en-US" dirty="0"/>
              <a:t> OS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Georgia"/>
              </a:defRPr>
            </a:pPr>
            <a:r>
              <a:rPr dirty="0"/>
              <a:t>Pilot Product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400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rPr b="1" dirty="0"/>
              <a:t>AI Compliance Operating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92A6"/>
                </a:solidFill>
                <a:latin typeface="Calibri"/>
              </a:defRPr>
            </a:pPr>
            <a:r>
              <a:rPr dirty="0"/>
              <a:t>Production readiness assessment, capability tiers, and strategic roadmap.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" y="4434840"/>
            <a:ext cx="9070848" cy="70866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A92A6"/>
                </a:solidFill>
                <a:latin typeface="Calibri"/>
              </a:defRPr>
            </a:pPr>
            <a:r>
              <a:rPr dirty="0"/>
              <a:t>For: Investors |  Pilot Clients  | 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52628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A92A6"/>
                </a:solidFill>
                <a:latin typeface="Calibri"/>
              </a:defRPr>
            </a:pPr>
            <a:r>
              <a:t>March 2026  |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2332"/>
                </a:solidFill>
                <a:latin typeface="Georgia"/>
              </a:defRPr>
            </a:pPr>
            <a:r>
              <a:t>The AI Compliance Operating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" cy="109728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B4F"/>
                </a:solidFill>
                <a:latin typeface="Calibri"/>
              </a:defRPr>
            </a:pPr>
            <a:r>
              <a:rPr dirty="0" err="1"/>
              <a:t>Onboarda</a:t>
            </a:r>
            <a:r>
              <a:rPr dirty="0"/>
              <a:t> </a:t>
            </a:r>
            <a:r>
              <a:rPr lang="en-US" dirty="0"/>
              <a:t>OS </a:t>
            </a:r>
            <a:r>
              <a:rPr dirty="0"/>
              <a:t>is an AI-powered compliance operating system that reduces client onboarding from days to minutes while maintaining full regulatory traceability — purpose-built for payment institutions and corporate service providers operating under FSC, FATF, and FIAMLA frameworks.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54864" cy="1783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libri"/>
              </a:defRPr>
            </a:pPr>
            <a:r>
              <a:t>Investors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2286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A production-grade pilot proving that AI can collapse compliance timelines from 15 days to under 48 hours, with full audit trails and regulatory defensibility.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0175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3017520"/>
            <a:ext cx="54864" cy="1783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31089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libri"/>
              </a:defRPr>
            </a:pPr>
            <a:r>
              <a:t>Pilot 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74720"/>
            <a:ext cx="2286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Secure, tested onboarding with real AI risk scoring, document verification, and compliance reporting — augmenting your team, not replacing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0175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3017520"/>
            <a:ext cx="54864" cy="1783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31089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474720"/>
            <a:ext cx="2286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Honest tiering: what is production-safe, what is demo-ready, and what is Phase 2 — with clear build priorities and dependencies.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A2332"/>
                </a:solidFill>
                <a:latin typeface="Georgia"/>
              </a:defRPr>
            </a:pPr>
            <a:r>
              <a:t>The Problem → The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977639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0759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BEFORE ONBOARDA</a:t>
            </a:r>
            <a:r>
              <a:rPr lang="en-US" dirty="0"/>
              <a:t> OS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6576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Onboarding takes 10–15 days per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36576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Manual document collection and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36576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Fragmented tools (KYC, screening, spreadsheets)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36576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Inconsistent risk assessment across officers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36576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Limited audit traceability for regulators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69080"/>
            <a:ext cx="36576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High compliance cost per client onboarded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280160"/>
            <a:ext cx="3977639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130759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AFTER ONBOARDA</a:t>
            </a:r>
            <a:r>
              <a:rPr lang="en-US" dirty="0"/>
              <a:t> OS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4846320" y="1783080"/>
            <a:ext cx="36576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0" y="17830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dirty="0"/>
              <a:t>Onboarding reduced to 48 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2240280"/>
            <a:ext cx="36576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22402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Guided digital onboarding flow with auto-validation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697480"/>
            <a:ext cx="36576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0" y="26974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Single platform: KYC, screening, risk, compliance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3154680"/>
            <a:ext cx="36576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31546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AI-scored risk across 5 FATF-aligned dimensions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3611880"/>
            <a:ext cx="36576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36118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Full audit trail with per-agent explainability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4069080"/>
            <a:ext cx="36576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40690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Lower cost per onboarding + higher throughput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59" y="4599432"/>
            <a:ext cx="84124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A2332"/>
                </a:solidFill>
                <a:latin typeface="Calibri"/>
              </a:defRPr>
            </a:pPr>
            <a:r>
              <a:rPr sz="1200" dirty="0">
                <a:solidFill>
                  <a:srgbClr val="C00000"/>
                </a:solidFill>
              </a:rPr>
              <a:t>Result: 80%+ reduction in onboarding time  |  Consistent, auditable risk decisions  |  Compliance officers augmented, not replaced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PLATFORM MATURITY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A2332"/>
                </a:solidFill>
                <a:latin typeface="Georgia"/>
              </a:defRPr>
            </a:pPr>
            <a:r>
              <a:t>One Platform. Three Maturity Tiers.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PRODUCTION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Live Capabilities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Secure, tested, operationally reliable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Suitable for real client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Full audit trail and regulatory defensibility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AI-powered with human oversight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1399032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PILOT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600200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Enabled Capabilities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828800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20116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Visible in UI, demo-capable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060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Partially implemented or hardcoded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2004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Useful for stakeholder storytelling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947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Not yet hardened for production reliance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1399032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600200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Strategic Differentiators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828800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20116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Intentionally deferred post-pilot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6060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</a:t>
            </a:r>
            <a:r>
              <a:rPr sz="1050" dirty="0" err="1"/>
              <a:t>Prioritised</a:t>
            </a:r>
            <a:r>
              <a:rPr sz="1050" dirty="0"/>
              <a:t> by ROI and client 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2004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Architecture-ready (foundations in place)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7947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Build triggers: pilot validation + funding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AE60"/>
                </a:solidFill>
                <a:latin typeface="Calibri"/>
              </a:defRPr>
            </a:pPr>
            <a:r>
              <a:t>PRODUCTION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914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LIVE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2332"/>
                </a:solidFill>
                <a:latin typeface="Georgia"/>
              </a:defRPr>
            </a:pPr>
            <a:r>
              <a:t>Client Portal — Onboarding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Multi-Step Onboarding Wizard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Guided 5-step flow: company details, pre-screening questionnaire, UBO/director mapping, document upload, and final submission. All data persisted to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2402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PEP &amp; Ownership Declarations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Structured PEP declaration per director/UBO with public function details, ownership percentages, and nationality capture.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Document Upload with Server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832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Real file upload to backend with extension, MIME type, magic byte, and file size validation. Path traversal protection enforced.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0690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Application Submission &amp; Status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976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Full API integration: POST to /api/applications, real database persistence, status lookup by reference number.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2801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12801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13258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JWT 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5544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Secure client registration and login with HS256 JWT tokens stored in httpOnly cookies. Session management with issuer verification.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1945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63440" y="21945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92040" y="22402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Draft Auto-Save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4688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Application progress saved via API, allowing clients to resume incomplete onboarding sessions.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31089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3440" y="31089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92040" y="31546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Dynamic Pricing Display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3832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Risk-profile-based fee calculation shown to client before final submission, with fee acceptance gate.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40233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63440" y="40233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2040" y="40690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Client Notification Inbox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2976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Server-pushed notifications from compliance officers visible in portal with read/unread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AE60"/>
                </a:solidFill>
                <a:latin typeface="Calibri"/>
              </a:defRPr>
            </a:pPr>
            <a:r>
              <a:t>PRODUCTION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914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LIVE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2332"/>
                </a:solidFill>
                <a:latin typeface="Georgia"/>
              </a:defRPr>
            </a:pPr>
            <a:r>
              <a:t>Compliance Backoffice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332"/>
                </a:solidFill>
                <a:latin typeface="Calibri"/>
              </a:defRPr>
            </a:pPr>
            <a:r>
              <a:t>📋  Application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Full case detail view with company data, director/UBO information, uploaded documents, internal notes, and decision workflow (approve / reject / escalate / request info).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2344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23444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30759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332"/>
                </a:solidFill>
                <a:latin typeface="Calibri"/>
              </a:defRPr>
            </a:pPr>
            <a:r>
              <a:t>📁  Case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0020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Assign, reassign, and escalate applications across team members. Complete case lifecycle from submission through final decision with audit logging.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6888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46888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54203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332"/>
                </a:solidFill>
                <a:latin typeface="Calibri"/>
              </a:defRPr>
            </a:pPr>
            <a:r>
              <a:t>🔍  Screening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Sanctions, PEP, and adverse media screening results per person. Status tracking and officer review workflow.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46888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246888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254203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332"/>
                </a:solidFill>
                <a:latin typeface="Calibri"/>
              </a:defRPr>
            </a:pPr>
            <a:r>
              <a:t>👤  User Management &amp; RBAC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83464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Four defined roles (Administrator, Senior CO, Compliance Officer, Analyst) with 18 granular permissions. User creation and role assignment.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033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77647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332"/>
                </a:solidFill>
                <a:latin typeface="Calibri"/>
              </a:defRPr>
            </a:pPr>
            <a:r>
              <a:t>📝 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6908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Every action logged: timestamp, user, role, action type, and details. Immutable compliance record for regulatory examination.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7033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63440" y="370332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377647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332"/>
                </a:solidFill>
                <a:latin typeface="Calibri"/>
              </a:defRPr>
            </a:pPr>
            <a:r>
              <a:t>📢  SAR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06908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Suspicious Activity Report creation with state machine (draft → pending review → approved → filed). Database-persisted with full audit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AE60"/>
                </a:solidFill>
                <a:latin typeface="Calibri"/>
              </a:defRPr>
            </a:pPr>
            <a:r>
              <a:t>PRODUCTION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371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AI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Georgia"/>
              </a:defRPr>
            </a:pPr>
            <a:r>
              <a:rPr lang="en-US" dirty="0"/>
              <a:t>Onboarding </a:t>
            </a:r>
            <a:r>
              <a:rPr dirty="0"/>
              <a:t>AI Agents — Claude-Powered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Requires configured Anthropic API key. Production mode blocks mock fallbacks. Budget-enforced at $50/month with per-call cost tracking.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94360" cy="59436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216152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Identity &amp; Document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417320"/>
            <a:ext cx="5943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66 automated checks across 16 document types. OCR text extraction, validity detection, name matching, cross-document consistency, registry verification. Per-document Pass/Warning/Fail.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225296"/>
            <a:ext cx="1280160" cy="1828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1225296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ABC9C"/>
                </a:solidFill>
                <a:latin typeface="Calibri"/>
              </a:defRPr>
            </a:pPr>
            <a:r>
              <a:t>claude-sonnet-4-6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47088"/>
            <a:ext cx="8229600" cy="59436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847088"/>
            <a:ext cx="594360" cy="59436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920240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187452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Corporate Structure &amp; UBO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075688"/>
            <a:ext cx="5943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Ownership chain tracing, UBO identification (≥25% threshold), multi-layered entity detection, circular ownership detection, nominee/trust identification.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883664"/>
            <a:ext cx="1280160" cy="1828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1883664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ABC9C"/>
                </a:solidFill>
                <a:latin typeface="Calibri"/>
              </a:defRPr>
            </a:pPr>
            <a:r>
              <a:t>claude-sonnet-4-6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05456"/>
            <a:ext cx="8229600" cy="59436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05456"/>
            <a:ext cx="594360" cy="59436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578608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532888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Business Model Plausibility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2734056"/>
            <a:ext cx="5943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Business description vs sector alignment, transaction volume benchmarking, geography vs business model logic, source of funds consistency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542032"/>
            <a:ext cx="1280160" cy="1828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2542032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ABC9C"/>
                </a:solidFill>
                <a:latin typeface="Calibri"/>
              </a:defRPr>
            </a:pPr>
            <a:r>
              <a:t>claude-sonnet-4-6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63824"/>
            <a:ext cx="8229600" cy="59436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163824"/>
            <a:ext cx="594360" cy="59436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236976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191256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FinCrime Screening Interpretation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392424"/>
            <a:ext cx="5943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Sumsub AML screening analysis: sanctions/PEP/adverse media consolidation, false positive reduction, hit severity ranking, risk narrative generation.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200400"/>
            <a:ext cx="1280160" cy="1828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0" y="3200400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ABC9C"/>
                </a:solidFill>
                <a:latin typeface="Calibri"/>
              </a:defRPr>
            </a:pPr>
            <a:r>
              <a:t>claude-sonnet-4-6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22191"/>
            <a:ext cx="8229600" cy="59436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3822191"/>
            <a:ext cx="594360" cy="59436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895343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3849623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Compliance Memo &amp; Risk Recommendation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050791"/>
            <a:ext cx="5943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5-dimension weighted composite scoring. Integrates all agent signals into structured compliance memo with risk score, level, and decision routing.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3858767"/>
            <a:ext cx="1280160" cy="1828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0" y="3858767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ABC9C"/>
                </a:solidFill>
                <a:latin typeface="Calibri"/>
              </a:defRPr>
            </a:pPr>
            <a:r>
              <a:t>claude-opus-4-6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459028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🧠  Explainability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84439" y="4590288"/>
            <a:ext cx="641948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8A92A6"/>
                </a:solidFill>
                <a:latin typeface="Calibri"/>
              </a:defRPr>
            </a:pPr>
            <a:r>
              <a:rPr sz="1050" dirty="0"/>
              <a:t>Full decision trail with timestamps and confidence scores per agent. Dimension drill-down with expandable factors. Client-facing simplified view in portal.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498DB"/>
                </a:solidFill>
                <a:latin typeface="Calibri"/>
              </a:defRPr>
            </a:pPr>
            <a:r>
              <a:t>PHASE 2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371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MONITORING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Georgia"/>
              </a:defRPr>
            </a:pPr>
            <a:r>
              <a:rPr dirty="0"/>
              <a:t>Monitoring </a:t>
            </a:r>
            <a:r>
              <a:rPr lang="en-US" dirty="0"/>
              <a:t>AI </a:t>
            </a:r>
            <a:r>
              <a:rPr dirty="0"/>
              <a:t>Agents — Phase 2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These agents complete the continuous compliance lifecycle. Architecture-ready — supervisor framework, schemas, and pipeline routing already in codebase.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9436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216152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Periodic Review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435608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Automated review cycle tracking, expired document identification, change-since-onboarding summary, review memo pre-population.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243584"/>
            <a:ext cx="1828800" cy="20116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243584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FFFFFF"/>
                </a:solidFill>
                <a:latin typeface="Calibri"/>
              </a:defRPr>
            </a:pPr>
            <a:r>
              <a:t>NOT LIVE IN PILOT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01952"/>
            <a:ext cx="8229600" cy="6400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01952"/>
            <a:ext cx="59436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011680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1929384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Adverse Media &amp; PEP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148840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Continuous daily scans for new sanctions listings, PEP status changes, enforcement actions, adverse media alerts. Severity classification.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956816"/>
            <a:ext cx="182880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1956816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FFFFFF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15184"/>
            <a:ext cx="8229600" cy="6400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615184"/>
            <a:ext cx="59436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724912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642616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Behaviour &amp; Risk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2862072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Transaction pattern comparison vs onboarding profile, new jurisdiction detection, volume spike analysis, sector change identification.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2670048"/>
            <a:ext cx="1828800" cy="20116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2670048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FFFFFF"/>
                </a:solidFill>
                <a:latin typeface="Calibri"/>
              </a:defRPr>
            </a:pPr>
            <a:r>
              <a:t>NOT LIVE IN 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28415"/>
            <a:ext cx="8229600" cy="6400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328415"/>
            <a:ext cx="59436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438143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355847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Regulatory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575303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New circular/rule detection, impacted client segment mapping, compliance action triggering, regulatory change timeline tracking.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383279"/>
            <a:ext cx="1828800" cy="20116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0" y="3383279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FFFFFF"/>
                </a:solidFill>
                <a:latin typeface="Calibri"/>
              </a:defRPr>
            </a:pPr>
            <a:r>
              <a:t>FUTURE PHASE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041648"/>
            <a:ext cx="8229600" cy="6400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041648"/>
            <a:ext cx="59436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151376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06908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Ongoing Compliance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288536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All monitoring signals consolidated, risk trend analysis, maintain/EDD/exit recommendation, periodic review memo generation.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0" y="4096512"/>
            <a:ext cx="1828800" cy="20116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66560" y="409651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FFFFFF"/>
                </a:solidFill>
                <a:latin typeface="Calibri"/>
              </a:defRPr>
            </a:pPr>
            <a:r>
              <a:t>NOT LIVE IN PILOT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8A92A6"/>
                </a:solidFill>
                <a:latin typeface="Calibri"/>
              </a:defRPr>
            </a:pPr>
            <a:r>
              <a:t>Build trigger: Pilot validation + Tier 1 funding. Supervisor orchestration layer (contradiction detection, confidence routing) enables all monitoring agents.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AE60"/>
                </a:solidFill>
                <a:latin typeface="Calibri"/>
              </a:defRPr>
            </a:pPr>
            <a:r>
              <a:t>PRODUCTION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914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SECURITY &amp;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2332"/>
                </a:solidFill>
                <a:latin typeface="Georgia"/>
              </a:defRPr>
            </a:pPr>
            <a:r>
              <a:t>Security Hardening &amp; Platform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🔒  JWT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HS256 tokens in httpOnly cookies with issuer verification. Migrated from localStorage. Rate-limited login endpoints.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🔒  XSS Prevention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innerHTML replaced with textContent across all user-facing chat and display components. escapeHtml() utility enforced.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6324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🔒  Prompt Injection Defence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3756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SYSTEM/IGNORE/OVERRIDE pattern filtering, HTML tag stripping, 500-character input limits on all AI-bound user input.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977639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023359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🔒  File Upload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51959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Extension whitelist, MIME type validation, magic byte verification, size limits, and path traversal protection via os.path.basename().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23444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1234440"/>
            <a:ext cx="54864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12801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⚙️  50+ REST API Endpoints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50876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Full CRUD for applications, documents, users, SAR reports, monitoring, and configuration. Tornado async framework.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63440" y="2148840"/>
            <a:ext cx="54864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92040" y="21945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⚙️  SQLite / PostgreSQL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42316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Persistent relational storage with schema migrations. SQLite for dev, PostgreSQL for production. Connection pooling.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306324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3440" y="3063240"/>
            <a:ext cx="54864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92040" y="31089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⚙️  AI Budget Enforcement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33756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Per-call cost tracking with $50/month cap. Production mode blocks mock fallbacks. Token usage logging per agent.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977639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63440" y="3977639"/>
            <a:ext cx="54864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2040" y="4023359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⚙️  Audit Logging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251959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Every API action logged: user, role, timestamp, action type, IP address. Immutable records for regulatory examination.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9C12"/>
                </a:solidFill>
                <a:latin typeface="Calibri"/>
              </a:defRPr>
            </a:pPr>
            <a:r>
              <a:t>PILOT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914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ENABLED CAPABILITIES  —  DEMO-READY, NOT PRODUCTION-HARDENED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2332"/>
                </a:solidFill>
                <a:latin typeface="Georgia"/>
              </a:defRPr>
            </a:pPr>
            <a:r>
              <a:t>Pilot Preview — Enabled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92A6"/>
                </a:solidFill>
                <a:latin typeface="Calibri"/>
              </a:defRPr>
            </a:pPr>
            <a:r>
              <a:t>These features are visible in the platform and useful for demos, but rely on simulated data or partial implementations. They should not be presented as production-safe.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2332"/>
                </a:solidFill>
                <a:latin typeface="Calibri"/>
              </a:defRPr>
            </a:pPr>
            <a:r>
              <a:t>Regulatory Intelligence (Lite)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44752"/>
            <a:ext cx="5760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B4F"/>
                </a:solidFill>
                <a:latin typeface="Calibri"/>
              </a:defRPr>
            </a:pPr>
            <a:r>
              <a:t>Document upload with metadata tagging, AI summary generation, impact mapping, and human review workflow. AI analysis uses keyword pattern matching (not Claude API). Suitable for demonstrating the concept and workflow – not for real regulatory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01952"/>
            <a:ext cx="54864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883664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2332"/>
                </a:solidFill>
                <a:latin typeface="Calibri"/>
              </a:defRPr>
            </a:pPr>
            <a:r>
              <a:t>Company Registry Lookup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883664"/>
            <a:ext cx="5760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B4F"/>
                </a:solidFill>
                <a:latin typeface="Calibri"/>
              </a:defRPr>
            </a:pPr>
            <a:r>
              <a:t>Client portal shows OpenCorporates-style company search with auto-prefill. Currently uses simulated responses when API key is not configured. Real integration available when OPENCORPORATES_API_KEY is 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40864"/>
            <a:ext cx="54864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2332"/>
                </a:solidFill>
                <a:latin typeface="Calibri"/>
              </a:defRPr>
            </a:pPr>
            <a:r>
              <a:t>KPI Dashboards &amp;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322576"/>
            <a:ext cx="5760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B4F"/>
                </a:solidFill>
                <a:latin typeface="Calibri"/>
              </a:defRPr>
            </a:pPr>
            <a:r>
              <a:t>Backoffice shows 20+ KPI metrics across operations, risk quality, and team productivity. Current dashboards use demo data. Real analytics will be activated in Phase 2 with live database aggregation queries.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79776"/>
            <a:ext cx="54864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6148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2332"/>
                </a:solidFill>
                <a:latin typeface="Calibri"/>
              </a:defRPr>
            </a:pPr>
            <a:r>
              <a:t>Ongoing Monitoring &amp; EDD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761488"/>
            <a:ext cx="5760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B4F"/>
                </a:solidFill>
                <a:latin typeface="Calibri"/>
              </a:defRPr>
            </a:pPr>
            <a:r>
              <a:t>UI for monitoring alerts, periodic reviews, and enhanced due diligence. Renders hardcoded sample data. No real transaction monitoring or trigger engine.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18688"/>
            <a:ext cx="54864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2004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2332"/>
                </a:solidFill>
                <a:latin typeface="Calibri"/>
              </a:defRPr>
            </a:pPr>
            <a:r>
              <a:t>AI Chat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200400"/>
            <a:ext cx="5760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B4F"/>
                </a:solidFill>
                <a:latin typeface="Calibri"/>
              </a:defRPr>
            </a:pPr>
            <a:r>
              <a:t>Backoffice AI assistant for compliance questions. Functional when Claude API key is configured; returns mock responses otherwise.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498DB"/>
                </a:solidFill>
                <a:latin typeface="Calibri"/>
              </a:defRPr>
            </a:pPr>
            <a:r>
              <a:t>PHASE 2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t>Strategic Roadmap — Post-Pilot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265176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24688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TIER 1  —  Highest ROI /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Real KPI Analytics — Replace hardcoded dashboards with live database queries and trend calculations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Agent 6: Periodic Review Preparation — Automated review cycle tracking, expired document identification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Agent 8: Behaviour &amp; Risk Drift — Transaction pattern monitoring, volume spike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CSRF Protection &amp; Security Audit — SameSite enforcement, CSRF tokens, penetration testing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265176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578608"/>
            <a:ext cx="24688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TIER 2  —  Strategic Differentiators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AI Agent Supervisor — Orchestration layer: contradiction detection, confidence thresholds, consensus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Agent 10: Ongoing Compliance Review — All monitoring signals consolidated, risk trend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Full Regulatory Intelligence Engine — Live scraping (FSC, FATF, EU), multilingual analysis, one-click rule 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Multi-Jurisdiction Rule Engine — Configurable rules per jurisdiction (FSC, FCA, AMLD6, MAS)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2651760" cy="34747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087368"/>
            <a:ext cx="24688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TIER 3  —  Later Enhancements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Agent 9: Regulatory Impact (Future Phase)  |  Data Retention &amp; GDPR Automation  |  Client Self-Service Portal Expansion  |  Board-Ready PDF Reporting  |  World-Check / Dow Jones / LexisNexis Integrations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74C3C"/>
                </a:solidFill>
                <a:latin typeface="Calibri"/>
              </a:defRPr>
            </a:pPr>
            <a:r>
              <a:t>INTEGRITY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2332"/>
                </a:solidFill>
                <a:latin typeface="Georgia"/>
              </a:defRPr>
            </a:pPr>
            <a:r>
              <a:t>What Should NOT Be Described as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92A6"/>
                </a:solidFill>
                <a:latin typeface="Calibri"/>
              </a:defRPr>
            </a:pPr>
            <a:r>
              <a:t>Credibility requires honesty. These items must not be presented as production-ready until the stated conditions are met.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4864" cy="40233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74C3C"/>
                </a:solidFill>
                <a:latin typeface="Calibri"/>
              </a:defRPr>
            </a:pPr>
            <a:r>
              <a:t>KPI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All metrics are hardcoded. Must not be described as real analytics until connected to database aggregation queries.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02536"/>
            <a:ext cx="54864" cy="40233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02536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74C3C"/>
                </a:solidFill>
                <a:latin typeface="Calibri"/>
              </a:defRPr>
            </a:pPr>
            <a:r>
              <a:t>Ongoing Monitoring (Agents 6, 8, 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02536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Agents 6, 8, 10 not live in pilot. Must not be described as active monitoring until these agents are enabled.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96312"/>
            <a:ext cx="54864" cy="40233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496312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74C3C"/>
                </a:solidFill>
                <a:latin typeface="Calibri"/>
              </a:defRPr>
            </a:pPr>
            <a:r>
              <a:t>Regulatory Intelligence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96312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Uses keyword matching, not Claude. Must not be described as AI-powered analysis until connected to real language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90088"/>
            <a:ext cx="54864" cy="40233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990088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74C3C"/>
                </a:solidFill>
                <a:latin typeface="Calibri"/>
              </a:defRPr>
            </a:pPr>
            <a:r>
              <a:t>Transaction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99008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UI exists but no monitoring engine. Must not be described as ongoing monitoring until trigger rules and data feeds are implemented.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MESSAGING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2332"/>
                </a:solidFill>
                <a:latin typeface="Georgia"/>
              </a:defRPr>
            </a:pPr>
            <a:r>
              <a:t>Recommended Messaging by Audience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8321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7AE60"/>
                </a:solidFill>
                <a:latin typeface="Calibri"/>
              </a:defRPr>
            </a:pPr>
            <a:r>
              <a:t>INVESTORS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7863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B4F"/>
                </a:solidFill>
                <a:latin typeface="Calibri"/>
              </a:defRPr>
            </a:pPr>
            <a:r>
              <a:t>"Onboarda is a production-grade AI compliance operating system currently in live pilot with ARIE Finance. The platform automates end-to-end client onboarding with AI-powered risk scoring across five FATF-aligned dimensions, reducing processing time from 15 days to under 48 hours. Core capabilities — application workflow, AI agents, case management, and security infrastructure — are production-tested and audit-ready. External integrations (sanctions screening, KYC verification) are code-complete and activated upon credential configuration. Phase 2 expands into multi-jurisdiction rule engines, real-time monitoring, and a full regulatory intelligence pipeline."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8321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54864" cy="10058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98DB"/>
                </a:solidFill>
                <a:latin typeface="Calibri"/>
              </a:defRPr>
            </a:pPr>
            <a:r>
              <a:t>PILOT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78638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B4F"/>
                </a:solidFill>
                <a:latin typeface="Calibri"/>
              </a:defRPr>
            </a:pPr>
            <a:r>
              <a:t>"Onboarda streamlines your compliance onboarding with a secure, guided workflow backed by AI risk assessment. Your clients submit applications through a branded portal, and your team reviews them through a full compliance dashboard with audit trails, case management, and decision workflows. AI agents score risk across five dimensions and generate compliance memos — but every decision remains with your team. The platform is designed to augment your compliance officers, not replace them."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8321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54864" cy="10515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39C12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14800"/>
            <a:ext cx="7863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B4F"/>
                </a:solidFill>
                <a:latin typeface="Calibri"/>
              </a:defRPr>
            </a:pPr>
            <a:r>
              <a:t>"Production tier: Application CRUD, JWT auth, file validation, 5 AI agents (Claude-powered), Sumsub KYC/AML, SAR workflow, and audit trail. Preview tier: Company registry lookup (OpenCorporates) code-complete but falls back to mock without credentials. KPI dashboards use demo data. Regulatory Intelligence uses keyword matching. Tier 1 priorities: real analytics queries, CSRF protection, Agent 6 (periodic reviews), Agent 8 (risk drift), and integration test suite."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COMMERCIAL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A2332"/>
                </a:solidFill>
                <a:latin typeface="Georgia"/>
              </a:defRPr>
            </a:pPr>
            <a:r>
              <a:t>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9748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07592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Implementation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81912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$20K – $50K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Platform setup &amp;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Integration with existing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62656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Custom rule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Staff training &amp; onboarding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280160"/>
            <a:ext cx="2697480" cy="7772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1307592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Monthly Platform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581912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$2K – $5K / institution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05740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194560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Full platform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78608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AI agent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962656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Ongoing support &amp;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346704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Regulatory rule updates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280160"/>
            <a:ext cx="2697480" cy="77724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1307592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Usage-Based 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581912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$20 – $100 / onboarding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05740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2194560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Tiered by complexity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578608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Volume discounts 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962656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Includes all 5 AI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46704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Full audit trail per 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69080"/>
            <a:ext cx="8366760" cy="82296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Why This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B4F"/>
                </a:solidFill>
                <a:latin typeface="Calibri"/>
              </a:defRPr>
            </a:pPr>
            <a:r>
              <a:rPr sz="1050" b="1" dirty="0">
                <a:solidFill>
                  <a:schemeClr val="bg1">
                    <a:lumMod val="50000"/>
                  </a:schemeClr>
                </a:solidFill>
              </a:rPr>
              <a:t>Clients save $5K–$15K per onboarding in manual review costs, reducing processing from 15 days to under 48 hours. At 50+ onboardings per year, the platform pays for itself within months. Premium monitoring modules provide additional recurring revenue.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Why Onboarda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2697480" cy="411480"/>
          </a:xfrm>
          <a:prstGeom prst="rect">
            <a:avLst/>
          </a:prstGeom>
          <a:solidFill>
            <a:srgbClr val="8A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Fenergo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97480" cy="329184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A92A6"/>
                </a:solidFill>
                <a:latin typeface="Calibri"/>
              </a:defRPr>
            </a:pPr>
            <a:r>
              <a:t>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Enterprise-grade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74C3C"/>
                </a:solidFill>
                <a:latin typeface="Calibri"/>
              </a:defRPr>
            </a:pPr>
            <a:r>
              <a:t>WEAKNESS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Slow implementation (6–12 months)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74C3C"/>
                </a:solidFill>
                <a:latin typeface="Calibri"/>
              </a:defRPr>
            </a:pPr>
            <a:r>
              <a:t>WEAKNESS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High cost ($500K+ annual)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8328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74C3C"/>
                </a:solidFill>
                <a:latin typeface="Calibri"/>
              </a:defRPr>
            </a:pPr>
            <a:r>
              <a:t>WEAKNESS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661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Heavy customisation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39C12"/>
                </a:solidFill>
                <a:latin typeface="Calibri"/>
              </a:defRPr>
            </a:pPr>
            <a:r>
              <a:t>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Not built for MEA PSPs/CSPs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051560"/>
            <a:ext cx="2697480" cy="411480"/>
          </a:xfrm>
          <a:prstGeom prst="rect">
            <a:avLst/>
          </a:prstGeom>
          <a:solidFill>
            <a:srgbClr val="8A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0" y="1078992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ComplyAdvantage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463040"/>
            <a:ext cx="2697480" cy="329184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160020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A92A6"/>
                </a:solidFill>
                <a:latin typeface="Calibri"/>
              </a:defRPr>
            </a:pPr>
            <a:r>
              <a:t>POSITIONING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78308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Strong sanctions/AML 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19456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74C3C"/>
                </a:solidFill>
                <a:latin typeface="Calibri"/>
              </a:defRPr>
            </a:pPr>
            <a:r>
              <a:t>WEAKNESS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37744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Data-focused, not workflow-driven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78892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74C3C"/>
                </a:solidFill>
                <a:latin typeface="Calibri"/>
              </a:defRPr>
            </a:pPr>
            <a:r>
              <a:t>WEAKNESS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97180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No end-to-end onboarding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38328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74C3C"/>
                </a:solidFill>
                <a:latin typeface="Calibri"/>
              </a:defRPr>
            </a:pPr>
            <a:r>
              <a:t>WEAKNESS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5661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Limited decision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977639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39C12"/>
                </a:solidFill>
                <a:latin typeface="Calibri"/>
              </a:defRPr>
            </a:pPr>
            <a:r>
              <a:t>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16052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No compliance memo generation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051560"/>
            <a:ext cx="2697480" cy="41148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1078992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Onboarda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463040"/>
            <a:ext cx="2697480" cy="329184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63640" y="160020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7AE60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78308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Fast deployment (weeks, not months)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19456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7AE60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37744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AI-powered decision layer (5 agents)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78892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7AE60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97180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End-to-end workflow with audit trail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38328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7AE60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5661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Full explainability &amp; auditability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977639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7AE60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16052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Purpose-built for PSPs/CSPs in MEA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712E"/>
                </a:solidFill>
                <a:latin typeface="Calibri"/>
              </a:defRPr>
            </a:pPr>
            <a:r>
              <a:t>ONBOARDA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Built for Credibility.</a:t>
            </a:r>
            <a:br/>
            <a:r>
              <a:t>Built for Compliance.</a:t>
            </a:r>
            <a:br/>
            <a:r>
              <a:t>Built for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A92A6"/>
                </a:solidFill>
                <a:latin typeface="Calibri"/>
              </a:defRPr>
            </a:pPr>
            <a:r>
              <a:t>The pilot proves the thesis. Phase 2 expands the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57600"/>
            <a:ext cx="2560320" cy="4114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75888"/>
            <a:ext cx="1920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Pilot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58768"/>
            <a:ext cx="1920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Real client onboarding with production capabilities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657600"/>
            <a:ext cx="2560320" cy="4114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3657600"/>
            <a:ext cx="411480" cy="41148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3703320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675888"/>
            <a:ext cx="1920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Integration Activation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858768"/>
            <a:ext cx="1920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Live sanctions, KYC, and registry APIs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657600"/>
            <a:ext cx="2560320" cy="4114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411480" cy="41148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3703320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75888"/>
            <a:ext cx="1920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2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58768"/>
            <a:ext cx="1920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Supervisor, monitoring, multi-jurisdiction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92A6"/>
                </a:solidFill>
                <a:latin typeface="Calibri"/>
              </a:defRPr>
            </a:pPr>
            <a:r>
              <a:t>asudally@ariefinance.mu  |  +230 XXX XXXX  |  ariefinance.mu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2470</Words>
  <Application>Microsoft Macintosh PowerPoint</Application>
  <PresentationFormat>On-screen Show (16:9)</PresentationFormat>
  <Paragraphs>273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Aisha Sudally</cp:lastModifiedBy>
  <cp:revision>8</cp:revision>
  <dcterms:created xsi:type="dcterms:W3CDTF">2013-01-27T09:14:16Z</dcterms:created>
  <dcterms:modified xsi:type="dcterms:W3CDTF">2026-03-20T16:46:23Z</dcterms:modified>
  <cp:category/>
</cp:coreProperties>
</file>