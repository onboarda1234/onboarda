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2801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ONBOARDA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Compliance Decision Engine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0" y="2971800"/>
            <a:ext cx="1828800" cy="2743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154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Infrastructure for automated, explainable, regulator-grade onboarding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74320"/>
            <a:ext cx="411480" cy="41148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356616"/>
            <a:ext cx="246888" cy="2468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731520" y="1097280"/>
            <a:ext cx="4023360" cy="502920"/>
          </a:xfrm>
          <a:prstGeom prst="rect">
            <a:avLst/>
          </a:prstGeom>
          <a:solidFill>
            <a:srgbClr val="1A254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070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097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onboarding is manual, inconsistent, and not scalable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731520" y="1737360"/>
            <a:ext cx="4023360" cy="502920"/>
          </a:xfrm>
          <a:prstGeom prst="rect">
            <a:avLst/>
          </a:prstGeom>
          <a:solidFill>
            <a:srgbClr val="1A2540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4708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1737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depend on individual analyst judgement — no standardised logic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731520" y="2377440"/>
            <a:ext cx="4023360" cy="502920"/>
          </a:xfrm>
          <a:prstGeom prst="rect">
            <a:avLst/>
          </a:prstGeom>
          <a:solidFill>
            <a:srgbClr val="1A2540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487168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71600" y="23774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digitise workflows — they don't make decisions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731520" y="3017520"/>
            <a:ext cx="4023360" cy="502920"/>
          </a:xfrm>
          <a:prstGeom prst="rect">
            <a:avLst/>
          </a:prstGeom>
          <a:solidFill>
            <a:srgbClr val="1A2540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127248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371600" y="3017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require explainability, auditability, and accountability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5120640" y="1097280"/>
            <a:ext cx="3474720" cy="320040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2"/>
          <p:cNvSpPr/>
          <p:nvPr/>
        </p:nvSpPr>
        <p:spPr>
          <a:xfrm>
            <a:off x="5394960" y="1234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Process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5577840" y="1691640"/>
            <a:ext cx="1280160" cy="411480"/>
          </a:xfrm>
          <a:prstGeom prst="rect">
            <a:avLst/>
          </a:prstGeom>
          <a:solidFill>
            <a:srgbClr val="243252"/>
          </a:solidFill>
          <a:ln/>
        </p:spPr>
      </p:sp>
      <p:sp>
        <p:nvSpPr>
          <p:cNvPr id="21" name="Text 14"/>
          <p:cNvSpPr/>
          <p:nvPr/>
        </p:nvSpPr>
        <p:spPr>
          <a:xfrm>
            <a:off x="5577840" y="16916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5577840" y="2286000"/>
            <a:ext cx="1280160" cy="411480"/>
          </a:xfrm>
          <a:prstGeom prst="rect">
            <a:avLst/>
          </a:prstGeom>
          <a:solidFill>
            <a:srgbClr val="243252"/>
          </a:solidFill>
          <a:ln/>
        </p:spPr>
      </p:sp>
      <p:sp>
        <p:nvSpPr>
          <p:cNvPr id="23" name="Text 16"/>
          <p:cNvSpPr/>
          <p:nvPr/>
        </p:nvSpPr>
        <p:spPr>
          <a:xfrm>
            <a:off x="5577840" y="22860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A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5577840" y="2880360"/>
            <a:ext cx="1280160" cy="411480"/>
          </a:xfrm>
          <a:prstGeom prst="rect">
            <a:avLst/>
          </a:prstGeom>
          <a:solidFill>
            <a:srgbClr val="243252"/>
          </a:solidFill>
          <a:ln/>
        </p:spPr>
      </p:sp>
      <p:sp>
        <p:nvSpPr>
          <p:cNvPr id="25" name="Text 18"/>
          <p:cNvSpPr/>
          <p:nvPr/>
        </p:nvSpPr>
        <p:spPr>
          <a:xfrm>
            <a:off x="5577840" y="28803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B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5577840" y="3474720"/>
            <a:ext cx="1280160" cy="411480"/>
          </a:xfrm>
          <a:prstGeom prst="rect">
            <a:avLst/>
          </a:prstGeom>
          <a:solidFill>
            <a:srgbClr val="243252"/>
          </a:solidFill>
          <a:ln/>
        </p:spPr>
      </p:sp>
      <p:sp>
        <p:nvSpPr>
          <p:cNvPr id="27" name="Text 20"/>
          <p:cNvSpPr/>
          <p:nvPr/>
        </p:nvSpPr>
        <p:spPr>
          <a:xfrm>
            <a:off x="5577840" y="3474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C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6217920" y="2148840"/>
            <a:ext cx="0" cy="109728"/>
          </a:xfrm>
          <a:prstGeom prst="line">
            <a:avLst/>
          </a:prstGeom>
          <a:noFill/>
          <a:ln w="19050">
            <a:solidFill>
              <a:srgbClr val="8B9BB4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217920" y="2743200"/>
            <a:ext cx="0" cy="109728"/>
          </a:xfrm>
          <a:prstGeom prst="line">
            <a:avLst/>
          </a:prstGeom>
          <a:noFill/>
          <a:ln w="19050">
            <a:solidFill>
              <a:srgbClr val="8B9BB4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217920" y="3337560"/>
            <a:ext cx="0" cy="109728"/>
          </a:xfrm>
          <a:prstGeom prst="line">
            <a:avLst/>
          </a:prstGeom>
          <a:noFill/>
          <a:ln w="19050">
            <a:solidFill>
              <a:srgbClr val="8B9BB4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7132320" y="2286000"/>
            <a:ext cx="1188720" cy="1005840"/>
          </a:xfrm>
          <a:prstGeom prst="rect">
            <a:avLst/>
          </a:prstGeom>
          <a:solidFill>
            <a:srgbClr val="FF6B6B">
              <a:alpha val="80000"/>
            </a:srgbClr>
          </a:solidFill>
          <a:ln/>
        </p:spPr>
      </p:sp>
      <p:sp>
        <p:nvSpPr>
          <p:cNvPr id="32" name="Shape 25"/>
          <p:cNvSpPr/>
          <p:nvPr/>
        </p:nvSpPr>
        <p:spPr>
          <a:xfrm>
            <a:off x="7132320" y="2286000"/>
            <a:ext cx="36576" cy="100584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3" name="Text 26"/>
          <p:cNvSpPr/>
          <p:nvPr/>
        </p:nvSpPr>
        <p:spPr>
          <a:xfrm>
            <a:off x="7223760" y="2331720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different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client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731520" y="4297680"/>
            <a:ext cx="7680960" cy="36576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5" name="Text 28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36" name="Text 29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Workflow Automation to Decision Infrastructure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3474720" cy="3108960"/>
          </a:xfrm>
          <a:prstGeom prst="rect">
            <a:avLst/>
          </a:prstGeom>
          <a:solidFill>
            <a:srgbClr val="1E223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188720"/>
            <a:ext cx="3474720" cy="36576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371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WORLD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8288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checklists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21284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per analyst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59689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decisions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98094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 for reasoning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336499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scale</a:t>
            </a:r>
            <a:endParaRPr lang="en-US" sz="12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2560320"/>
            <a:ext cx="365760" cy="36576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937760" y="1188720"/>
            <a:ext cx="3474720" cy="3108960"/>
          </a:xfrm>
          <a:prstGeom prst="rect">
            <a:avLst/>
          </a:prstGeom>
          <a:solidFill>
            <a:srgbClr val="1423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937760" y="1188720"/>
            <a:ext cx="347472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6" name="Text 13"/>
          <p:cNvSpPr/>
          <p:nvPr/>
        </p:nvSpPr>
        <p:spPr>
          <a:xfrm>
            <a:off x="5212080" y="1371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WORLD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394960" y="1828800"/>
            <a:ext cx="2560320" cy="411480"/>
          </a:xfrm>
          <a:prstGeom prst="rect">
            <a:avLst/>
          </a:prstGeom>
          <a:solidFill>
            <a:srgbClr val="243252"/>
          </a:solidFill>
          <a:ln/>
        </p:spPr>
      </p:sp>
      <p:sp>
        <p:nvSpPr>
          <p:cNvPr id="18" name="Shape 15"/>
          <p:cNvSpPr/>
          <p:nvPr/>
        </p:nvSpPr>
        <p:spPr>
          <a:xfrm>
            <a:off x="5394960" y="1828800"/>
            <a:ext cx="45720" cy="41148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9" name="Text 16"/>
          <p:cNvSpPr/>
          <p:nvPr/>
        </p:nvSpPr>
        <p:spPr>
          <a:xfrm>
            <a:off x="5623560" y="1828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675120" y="2267712"/>
            <a:ext cx="0" cy="128016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394960" y="2423160"/>
            <a:ext cx="2560320" cy="411480"/>
          </a:xfrm>
          <a:prstGeom prst="rect">
            <a:avLst/>
          </a:prstGeom>
          <a:solidFill>
            <a:srgbClr val="243252"/>
          </a:solidFill>
          <a:ln/>
        </p:spPr>
      </p:sp>
      <p:sp>
        <p:nvSpPr>
          <p:cNvPr id="22" name="Shape 19"/>
          <p:cNvSpPr/>
          <p:nvPr/>
        </p:nvSpPr>
        <p:spPr>
          <a:xfrm>
            <a:off x="5394960" y="2423160"/>
            <a:ext cx="45720" cy="41148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3" name="Text 20"/>
          <p:cNvSpPr/>
          <p:nvPr/>
        </p:nvSpPr>
        <p:spPr>
          <a:xfrm>
            <a:off x="5623560" y="2423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675120" y="2862072"/>
            <a:ext cx="0" cy="128016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394960" y="3017520"/>
            <a:ext cx="2560320" cy="411480"/>
          </a:xfrm>
          <a:prstGeom prst="rect">
            <a:avLst/>
          </a:prstGeom>
          <a:solidFill>
            <a:srgbClr val="243252"/>
          </a:solidFill>
          <a:ln/>
        </p:spPr>
      </p:sp>
      <p:sp>
        <p:nvSpPr>
          <p:cNvPr id="26" name="Shape 23"/>
          <p:cNvSpPr/>
          <p:nvPr/>
        </p:nvSpPr>
        <p:spPr>
          <a:xfrm>
            <a:off x="5394960" y="3017520"/>
            <a:ext cx="45720" cy="41148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7" name="Text 24"/>
          <p:cNvSpPr/>
          <p:nvPr/>
        </p:nvSpPr>
        <p:spPr>
          <a:xfrm>
            <a:off x="5623560" y="30175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675120" y="3456432"/>
            <a:ext cx="0" cy="128016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394960" y="3611880"/>
            <a:ext cx="2560320" cy="411480"/>
          </a:xfrm>
          <a:prstGeom prst="rect">
            <a:avLst/>
          </a:prstGeom>
          <a:solidFill>
            <a:srgbClr val="243252"/>
          </a:solidFill>
          <a:ln/>
        </p:spPr>
      </p:sp>
      <p:sp>
        <p:nvSpPr>
          <p:cNvPr id="30" name="Shape 27"/>
          <p:cNvSpPr/>
          <p:nvPr/>
        </p:nvSpPr>
        <p:spPr>
          <a:xfrm>
            <a:off x="5394960" y="3611880"/>
            <a:ext cx="45720" cy="41148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1" name="Text 28"/>
          <p:cNvSpPr/>
          <p:nvPr/>
        </p:nvSpPr>
        <p:spPr>
          <a:xfrm>
            <a:off x="5623560" y="3611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74320"/>
            <a:ext cx="411480" cy="411480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356616"/>
            <a:ext cx="246888" cy="2468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system that doesn't just digitise compliance — it makes decisions.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31520" y="1417320"/>
            <a:ext cx="2468880" cy="301752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31520" y="1417320"/>
            <a:ext cx="246888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9" name="Shape 6"/>
          <p:cNvSpPr/>
          <p:nvPr/>
        </p:nvSpPr>
        <p:spPr>
          <a:xfrm>
            <a:off x="1645920" y="1600200"/>
            <a:ext cx="502920" cy="50292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04" y="1700784"/>
            <a:ext cx="301752" cy="3017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2240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 Engine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60120" y="2697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reasoning (10 agents)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96012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logic across every case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960120" y="3429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 enforcement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960120" y="3794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governance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566160" y="1417320"/>
            <a:ext cx="2468880" cy="301752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566160" y="1417320"/>
            <a:ext cx="246888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8" name="Shape 14"/>
          <p:cNvSpPr/>
          <p:nvPr/>
        </p:nvSpPr>
        <p:spPr>
          <a:xfrm>
            <a:off x="4480560" y="1600200"/>
            <a:ext cx="502920" cy="50292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144" y="1700784"/>
            <a:ext cx="301752" cy="30175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749040" y="2240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Memo Generation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3794760" y="2697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regulator-grade memos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379476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decision rationale + evidence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3794760" y="3429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Per-dimension confidence scoring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3794760" y="3794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Agent-level citations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400800" y="1417320"/>
            <a:ext cx="2468880" cy="301752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400800" y="1417320"/>
            <a:ext cx="2468880" cy="36576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7" name="Shape 22"/>
          <p:cNvSpPr/>
          <p:nvPr/>
        </p:nvSpPr>
        <p:spPr>
          <a:xfrm>
            <a:off x="7315200" y="1600200"/>
            <a:ext cx="502920" cy="50292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784" y="1700784"/>
            <a:ext cx="301752" cy="30175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583680" y="2240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+ Supervision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6629400" y="2697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 detection layer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662940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scoring before officer review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6629400" y="3429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across agent outputs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6629400" y="3794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contradictory decisions shipped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Infrastructure Stack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EXPERIENCE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0" y="1371600"/>
            <a:ext cx="4572000" cy="502920"/>
          </a:xfrm>
          <a:prstGeom prst="rect">
            <a:avLst/>
          </a:prstGeom>
          <a:solidFill>
            <a:srgbClr val="24325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0" y="1371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/ End User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1901952"/>
            <a:ext cx="0" cy="22860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2148840"/>
            <a:ext cx="5486400" cy="502920"/>
          </a:xfrm>
          <a:prstGeom prst="rect">
            <a:avLst/>
          </a:prstGeom>
          <a:solidFill>
            <a:srgbClr val="1C305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0" y="2148840"/>
            <a:ext cx="548640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0" y="21488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Portal (Partner-Branded)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0" y="2679192"/>
            <a:ext cx="0" cy="22860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8803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INTELLIGENCE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371600" y="3200400"/>
            <a:ext cx="6400800" cy="640080"/>
          </a:xfrm>
          <a:prstGeom prst="rect">
            <a:avLst/>
          </a:prstGeom>
          <a:solidFill>
            <a:srgbClr val="00C9A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371600" y="3200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3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ONBOARDA CORE ENGINE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0" y="3867912"/>
            <a:ext cx="0" cy="18288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0" y="4069080"/>
            <a:ext cx="1645920" cy="45720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28800" y="4069080"/>
            <a:ext cx="164592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9" name="Text 17"/>
          <p:cNvSpPr/>
          <p:nvPr/>
        </p:nvSpPr>
        <p:spPr>
          <a:xfrm>
            <a:off x="1828800" y="4069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40480" y="4069080"/>
            <a:ext cx="1645920" cy="45720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0" y="4069080"/>
            <a:ext cx="164592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0" y="4069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52160" y="4069080"/>
            <a:ext cx="1645920" cy="45720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852160" y="4069080"/>
            <a:ext cx="164592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5" name="Text 23"/>
          <p:cNvSpPr/>
          <p:nvPr/>
        </p:nvSpPr>
        <p:spPr>
          <a:xfrm>
            <a:off x="5852160" y="4069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 Products. One Platform.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3657600" cy="320040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188720"/>
            <a:ext cx="365760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371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White-Label (Lite)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7373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Partner-branded onboarding portal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2148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client experience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4963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&amp; document collection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8437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Pre-screening &amp; intake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31912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tracking dashboard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35387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&amp; declaration gates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3657600" cy="320040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188720"/>
            <a:ext cx="36576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1371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Engine (Onboarda)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0" y="17373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compliance decision infrastructure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2148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decision system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4963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(5-dimension)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28437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memo engine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31912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+ supervisor layer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35387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explainability &amp; audit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AI Agents. One Decision.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3657600" cy="59436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234440"/>
            <a:ext cx="411480" cy="41148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3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17320" y="1170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Risk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17320" y="1444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Email, VPN, duplicate checks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1874520"/>
            <a:ext cx="3657600" cy="59436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1965960"/>
            <a:ext cx="411480" cy="41148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3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17320" y="1901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Pre-Screening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17320" y="21762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Sector &amp; model plausibility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2606040"/>
            <a:ext cx="3657600" cy="59436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16" name="Shape 14"/>
          <p:cNvSpPr/>
          <p:nvPr/>
        </p:nvSpPr>
        <p:spPr>
          <a:xfrm>
            <a:off x="868680" y="2697480"/>
            <a:ext cx="411480" cy="41148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3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17320" y="2633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Verification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17320" y="29077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66 automated checks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337560"/>
            <a:ext cx="3657600" cy="59436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21" name="Shape 19"/>
          <p:cNvSpPr/>
          <p:nvPr/>
        </p:nvSpPr>
        <p:spPr>
          <a:xfrm>
            <a:off x="868680" y="3429000"/>
            <a:ext cx="411480" cy="41148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3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17320" y="3364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Narrative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17320" y="36393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Coherence &amp; benchmark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4069080"/>
            <a:ext cx="3657600" cy="59436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26" name="Shape 24"/>
          <p:cNvSpPr/>
          <p:nvPr/>
        </p:nvSpPr>
        <p:spPr>
          <a:xfrm>
            <a:off x="868680" y="4160520"/>
            <a:ext cx="411480" cy="41148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3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17320" y="4096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UBO Mapping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417320" y="43708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Ownership chain trace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1143000"/>
            <a:ext cx="3657600" cy="59436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31" name="Shape 29"/>
          <p:cNvSpPr/>
          <p:nvPr/>
        </p:nvSpPr>
        <p:spPr>
          <a:xfrm>
            <a:off x="4983480" y="1234440"/>
            <a:ext cx="411480" cy="41148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32" name="Text 30"/>
          <p:cNvSpPr/>
          <p:nvPr/>
        </p:nvSpPr>
        <p:spPr>
          <a:xfrm>
            <a:off x="498348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3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32120" y="1170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FinCrime Intel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32120" y="1444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Sanctions, PEP, media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1874520"/>
            <a:ext cx="3657600" cy="59436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36" name="Shape 34"/>
          <p:cNvSpPr/>
          <p:nvPr/>
        </p:nvSpPr>
        <p:spPr>
          <a:xfrm>
            <a:off x="4983480" y="1965960"/>
            <a:ext cx="411480" cy="41148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37" name="Text 35"/>
          <p:cNvSpPr/>
          <p:nvPr/>
        </p:nvSpPr>
        <p:spPr>
          <a:xfrm>
            <a:off x="498348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3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532120" y="1901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Funds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532120" y="21762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Plausibility analysis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2606040"/>
            <a:ext cx="3657600" cy="59436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41" name="Shape 39"/>
          <p:cNvSpPr/>
          <p:nvPr/>
        </p:nvSpPr>
        <p:spPr>
          <a:xfrm>
            <a:off x="4983480" y="2697480"/>
            <a:ext cx="411480" cy="41148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42" name="Text 40"/>
          <p:cNvSpPr/>
          <p:nvPr/>
        </p:nvSpPr>
        <p:spPr>
          <a:xfrm>
            <a:off x="498348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3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532120" y="2633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532120" y="29077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5-dim composite score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46320" y="3337560"/>
            <a:ext cx="3657600" cy="59436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46" name="Shape 44"/>
          <p:cNvSpPr/>
          <p:nvPr/>
        </p:nvSpPr>
        <p:spPr>
          <a:xfrm>
            <a:off x="4983480" y="3429000"/>
            <a:ext cx="411480" cy="41148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47" name="Text 45"/>
          <p:cNvSpPr/>
          <p:nvPr/>
        </p:nvSpPr>
        <p:spPr>
          <a:xfrm>
            <a:off x="498348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3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532120" y="3364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Memo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532120" y="36393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Auto-generated report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46320" y="4069080"/>
            <a:ext cx="3657600" cy="59436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51" name="Shape 49"/>
          <p:cNvSpPr/>
          <p:nvPr/>
        </p:nvSpPr>
        <p:spPr>
          <a:xfrm>
            <a:off x="4983480" y="4160520"/>
            <a:ext cx="411480" cy="41148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52" name="Text 50"/>
          <p:cNvSpPr/>
          <p:nvPr/>
        </p:nvSpPr>
        <p:spPr>
          <a:xfrm>
            <a:off x="498348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3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532120" y="4096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Monitor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532120" y="43708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Continuous rescreening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contributes to a unified decision reasoning chain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Logic-Enforced AI (Not Black Box)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828800" cy="128016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1417320"/>
            <a:ext cx="502920" cy="50292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2184" y="151790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2011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 specialists)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1737360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926080" y="1280160"/>
            <a:ext cx="1828800" cy="128016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566160" y="1417320"/>
            <a:ext cx="502920" cy="50292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744" y="1517904"/>
            <a:ext cx="301752" cy="3017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063240" y="2011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737360"/>
            <a:ext cx="274320" cy="27432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5120640" y="1280160"/>
            <a:ext cx="1828800" cy="128016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5760720" y="1417320"/>
            <a:ext cx="502920" cy="50292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1304" y="1517904"/>
            <a:ext cx="301752" cy="30175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257800" y="2011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</a:t>
            </a:r>
            <a:endParaRPr lang="en-US" sz="11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0" y="1737360"/>
            <a:ext cx="274320" cy="27432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7315200" y="1280160"/>
            <a:ext cx="1828800" cy="1280160"/>
          </a:xfrm>
          <a:prstGeom prst="rect">
            <a:avLst/>
          </a:prstGeom>
          <a:solidFill>
            <a:srgbClr val="00C9A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3"/>
          <p:cNvSpPr/>
          <p:nvPr/>
        </p:nvSpPr>
        <p:spPr>
          <a:xfrm>
            <a:off x="7955280" y="1417320"/>
            <a:ext cx="502920" cy="502920"/>
          </a:xfrm>
          <a:prstGeom prst="ellipse">
            <a:avLst/>
          </a:prstGeom>
          <a:solidFill>
            <a:srgbClr val="131B2E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5864" y="1517904"/>
            <a:ext cx="301752" cy="30175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452360" y="2011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24" name="Shape 15"/>
          <p:cNvSpPr/>
          <p:nvPr/>
        </p:nvSpPr>
        <p:spPr>
          <a:xfrm>
            <a:off x="731520" y="2926080"/>
            <a:ext cx="3657600" cy="64008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25" name="Shape 16"/>
          <p:cNvSpPr/>
          <p:nvPr/>
        </p:nvSpPr>
        <p:spPr>
          <a:xfrm>
            <a:off x="868680" y="3017520"/>
            <a:ext cx="457200" cy="45720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" y="3108960"/>
            <a:ext cx="274320" cy="27432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1463040" y="2944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Rules</a:t>
            </a:r>
            <a:endParaRPr lang="en-US" sz="1200" dirty="0"/>
          </a:p>
        </p:txBody>
      </p:sp>
      <p:sp>
        <p:nvSpPr>
          <p:cNvPr id="28" name="Text 18"/>
          <p:cNvSpPr/>
          <p:nvPr/>
        </p:nvSpPr>
        <p:spPr>
          <a:xfrm>
            <a:off x="1463040" y="3246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Standardised logic — no analyst variance</a:t>
            </a:r>
            <a:endParaRPr lang="en-US" sz="1000" dirty="0"/>
          </a:p>
        </p:txBody>
      </p:sp>
      <p:sp>
        <p:nvSpPr>
          <p:cNvPr id="29" name="Shape 19"/>
          <p:cNvSpPr/>
          <p:nvPr/>
        </p:nvSpPr>
        <p:spPr>
          <a:xfrm>
            <a:off x="4846320" y="2926080"/>
            <a:ext cx="3657600" cy="64008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30" name="Shape 20"/>
          <p:cNvSpPr/>
          <p:nvPr/>
        </p:nvSpPr>
        <p:spPr>
          <a:xfrm>
            <a:off x="4983480" y="3017520"/>
            <a:ext cx="457200" cy="45720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74920" y="3108960"/>
            <a:ext cx="274320" cy="27432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5577840" y="2944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Contradictions</a:t>
            </a:r>
            <a:endParaRPr lang="en-US" sz="1200" dirty="0"/>
          </a:p>
        </p:txBody>
      </p:sp>
      <p:sp>
        <p:nvSpPr>
          <p:cNvPr id="33" name="Text 22"/>
          <p:cNvSpPr/>
          <p:nvPr/>
        </p:nvSpPr>
        <p:spPr>
          <a:xfrm>
            <a:off x="5577840" y="3246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Supervisor resolves conflicting outputs</a:t>
            </a:r>
            <a:endParaRPr lang="en-US" sz="1000" dirty="0"/>
          </a:p>
        </p:txBody>
      </p:sp>
      <p:sp>
        <p:nvSpPr>
          <p:cNvPr id="34" name="Shape 23"/>
          <p:cNvSpPr/>
          <p:nvPr/>
        </p:nvSpPr>
        <p:spPr>
          <a:xfrm>
            <a:off x="731520" y="3703320"/>
            <a:ext cx="3657600" cy="64008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35" name="Shape 24"/>
          <p:cNvSpPr/>
          <p:nvPr/>
        </p:nvSpPr>
        <p:spPr>
          <a:xfrm>
            <a:off x="868680" y="3794760"/>
            <a:ext cx="457200" cy="45720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0120" y="3886200"/>
            <a:ext cx="274320" cy="274320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1463040" y="3721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Scoring</a:t>
            </a:r>
            <a:endParaRPr lang="en-US" sz="1200" dirty="0"/>
          </a:p>
        </p:txBody>
      </p:sp>
      <p:sp>
        <p:nvSpPr>
          <p:cNvPr id="38" name="Text 26"/>
          <p:cNvSpPr/>
          <p:nvPr/>
        </p:nvSpPr>
        <p:spPr>
          <a:xfrm>
            <a:off x="146304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decision scored before officer review</a:t>
            </a:r>
            <a:endParaRPr lang="en-US" sz="1000" dirty="0"/>
          </a:p>
        </p:txBody>
      </p:sp>
      <p:sp>
        <p:nvSpPr>
          <p:cNvPr id="39" name="Shape 27"/>
          <p:cNvSpPr/>
          <p:nvPr/>
        </p:nvSpPr>
        <p:spPr>
          <a:xfrm>
            <a:off x="4846320" y="3703320"/>
            <a:ext cx="3657600" cy="64008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40" name="Shape 28"/>
          <p:cNvSpPr/>
          <p:nvPr/>
        </p:nvSpPr>
        <p:spPr>
          <a:xfrm>
            <a:off x="4983480" y="3794760"/>
            <a:ext cx="457200" cy="45720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74920" y="3886200"/>
            <a:ext cx="274320" cy="274320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5577840" y="3721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Traceability</a:t>
            </a:r>
            <a:endParaRPr lang="en-US" sz="1200" dirty="0"/>
          </a:p>
        </p:txBody>
      </p:sp>
      <p:sp>
        <p:nvSpPr>
          <p:cNvPr id="43" name="Text 30"/>
          <p:cNvSpPr/>
          <p:nvPr/>
        </p:nvSpPr>
        <p:spPr>
          <a:xfrm>
            <a:off x="557784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Agent-by-agent reasoning visible to auditors</a:t>
            </a:r>
            <a:endParaRPr lang="en-US" sz="1000" dirty="0"/>
          </a:p>
        </p:txBody>
      </p:sp>
      <p:sp>
        <p:nvSpPr>
          <p:cNvPr id="44" name="Text 31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45" name="Text 32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FATF-Aligned Multi-Dimensional Risk Scoring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4114800" cy="50292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188720"/>
            <a:ext cx="1234440" cy="502920"/>
          </a:xfrm>
          <a:prstGeom prst="rect">
            <a:avLst/>
          </a:prstGeom>
          <a:solidFill>
            <a:srgbClr val="00C9A7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188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/ Entity Risk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0" y="11887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1828800"/>
            <a:ext cx="4114800" cy="50292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1828800"/>
            <a:ext cx="1028700" cy="502920"/>
          </a:xfrm>
          <a:prstGeom prst="rect">
            <a:avLst/>
          </a:prstGeom>
          <a:solidFill>
            <a:srgbClr val="4A90D9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8288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Risk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31920" y="18288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2468880"/>
            <a:ext cx="4114800" cy="50292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468880"/>
            <a:ext cx="822960" cy="502920"/>
          </a:xfrm>
          <a:prstGeom prst="rect">
            <a:avLst/>
          </a:prstGeom>
          <a:solidFill>
            <a:srgbClr val="9B59B6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4688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/ Service Risk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31920" y="24688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3108960"/>
            <a:ext cx="4114800" cy="50292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3108960"/>
            <a:ext cx="617220" cy="502920"/>
          </a:xfrm>
          <a:prstGeom prst="rect">
            <a:avLst/>
          </a:prstGeom>
          <a:solidFill>
            <a:srgbClr val="E67E22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/ Sector Risk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931920" y="31089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3749040"/>
            <a:ext cx="4114800" cy="50292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3749040"/>
            <a:ext cx="411480" cy="502920"/>
          </a:xfrm>
          <a:prstGeom prst="rect">
            <a:avLst/>
          </a:prstGeom>
          <a:solidFill>
            <a:srgbClr val="E74C3C">
              <a:alpha val="7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3749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Channel Risk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931920" y="37490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12080" y="1097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→ Routing → Outcome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212080" y="1554480"/>
            <a:ext cx="3383280" cy="59436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27" name="Shape 25"/>
          <p:cNvSpPr/>
          <p:nvPr/>
        </p:nvSpPr>
        <p:spPr>
          <a:xfrm>
            <a:off x="5212080" y="1554480"/>
            <a:ext cx="54864" cy="5943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8" name="Text 26"/>
          <p:cNvSpPr/>
          <p:nvPr/>
        </p:nvSpPr>
        <p:spPr>
          <a:xfrm>
            <a:off x="5440680" y="15819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Lane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40680" y="18562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Score 0-39  |  &lt; 1 day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212080" y="2286000"/>
            <a:ext cx="3383280" cy="59436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31" name="Shape 29"/>
          <p:cNvSpPr/>
          <p:nvPr/>
        </p:nvSpPr>
        <p:spPr>
          <a:xfrm>
            <a:off x="5212080" y="2286000"/>
            <a:ext cx="54864" cy="594360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32" name="Text 30"/>
          <p:cNvSpPr/>
          <p:nvPr/>
        </p:nvSpPr>
        <p:spPr>
          <a:xfrm>
            <a:off x="5440680" y="2313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Review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40680" y="25877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Score 40-54  |  2-3 days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212080" y="3017520"/>
            <a:ext cx="3383280" cy="59436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35" name="Shape 33"/>
          <p:cNvSpPr/>
          <p:nvPr/>
        </p:nvSpPr>
        <p:spPr>
          <a:xfrm>
            <a:off x="5212080" y="3017520"/>
            <a:ext cx="54864" cy="5943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6" name="Text 34"/>
          <p:cNvSpPr/>
          <p:nvPr/>
        </p:nvSpPr>
        <p:spPr>
          <a:xfrm>
            <a:off x="5440680" y="3044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DD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40680" y="33192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Score 55-69  |  5-7 days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212080" y="3749040"/>
            <a:ext cx="3383280" cy="59436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39" name="Shape 37"/>
          <p:cNvSpPr/>
          <p:nvPr/>
        </p:nvSpPr>
        <p:spPr>
          <a:xfrm>
            <a:off x="5212080" y="3749040"/>
            <a:ext cx="54864" cy="5943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0" name="Text 38"/>
          <p:cNvSpPr/>
          <p:nvPr/>
        </p:nvSpPr>
        <p:spPr>
          <a:xfrm>
            <a:off x="5440680" y="3776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440680" y="40507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Score 70-100  |  7-14 days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MEMO ENGINE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Regulator-Grade Outputs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memo includes: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compliance assessment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9385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explanation with factor weights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32257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 identified + mitigating factors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70662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rationale with reasoning chain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0906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 per dimension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474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Agent-level evidence citations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12080" y="1005840"/>
            <a:ext cx="33832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212080" y="1005840"/>
            <a:ext cx="3383280" cy="41148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4" name="Text 12"/>
          <p:cNvSpPr/>
          <p:nvPr/>
        </p:nvSpPr>
        <p:spPr>
          <a:xfrm>
            <a:off x="5394960" y="10332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COMPLIANCE MEMO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0" y="15087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ABC Corp Onboarding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86400" y="17830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Risk Score: 42 / 100 (Medium)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86400" y="20574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APPROVED with conditions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0" y="22860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───────────────────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86400" y="24688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Entity Assessment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86400" y="26517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Active company, 3yr history...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86400" y="28803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Risk Factors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86400" y="3063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Geographic: Low (Mauritius)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486400" y="32461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Product: Medium (FX services)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86400" y="34290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Recommendation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86400" y="36118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Standard monitoring, annual review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858000" y="3840480"/>
            <a:ext cx="1463040" cy="411480"/>
          </a:xfrm>
          <a:prstGeom prst="rect">
            <a:avLst/>
          </a:prstGeom>
          <a:solidFill>
            <a:srgbClr val="00C9A7">
              <a:alpha val="8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3840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74320"/>
            <a:ext cx="411480" cy="411480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356616"/>
            <a:ext cx="246888" cy="2468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 Decision Transparency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1520" y="8229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black box — full traceability from data intake to final decision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1520" y="1280160"/>
            <a:ext cx="7680960" cy="91440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8" name="Shape 5"/>
          <p:cNvSpPr/>
          <p:nvPr/>
        </p:nvSpPr>
        <p:spPr>
          <a:xfrm>
            <a:off x="1005840" y="1417320"/>
            <a:ext cx="1463040" cy="640080"/>
          </a:xfrm>
          <a:prstGeom prst="rect">
            <a:avLst/>
          </a:prstGeom>
          <a:solidFill>
            <a:srgbClr val="243252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14173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572768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926080" y="1417320"/>
            <a:ext cx="1463040" cy="640080"/>
          </a:xfrm>
          <a:prstGeom prst="rect">
            <a:avLst/>
          </a:prstGeom>
          <a:solidFill>
            <a:srgbClr val="243252"/>
          </a:solidFill>
          <a:ln/>
        </p:spPr>
      </p:sp>
      <p:sp>
        <p:nvSpPr>
          <p:cNvPr id="12" name="Text 8"/>
          <p:cNvSpPr/>
          <p:nvPr/>
        </p:nvSpPr>
        <p:spPr>
          <a:xfrm>
            <a:off x="2926080" y="14173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572768"/>
            <a:ext cx="274320" cy="2743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846320" y="1417320"/>
            <a:ext cx="1463040" cy="640080"/>
          </a:xfrm>
          <a:prstGeom prst="rect">
            <a:avLst/>
          </a:prstGeom>
          <a:solidFill>
            <a:srgbClr val="243252"/>
          </a:solidFill>
          <a:ln/>
        </p:spPr>
      </p:sp>
      <p:sp>
        <p:nvSpPr>
          <p:cNvPr id="15" name="Text 10"/>
          <p:cNvSpPr/>
          <p:nvPr/>
        </p:nvSpPr>
        <p:spPr>
          <a:xfrm>
            <a:off x="4846320" y="14173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572768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766560" y="1417320"/>
            <a:ext cx="1463040" cy="64008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8" name="Text 12"/>
          <p:cNvSpPr/>
          <p:nvPr/>
        </p:nvSpPr>
        <p:spPr>
          <a:xfrm>
            <a:off x="6766560" y="14173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731520" y="2514600"/>
            <a:ext cx="3657600" cy="77724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20" name="Shape 14"/>
          <p:cNvSpPr/>
          <p:nvPr/>
        </p:nvSpPr>
        <p:spPr>
          <a:xfrm>
            <a:off x="868680" y="2670048"/>
            <a:ext cx="457200" cy="45720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2761488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63040" y="2542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Pathway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1463040" y="28620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Full chain from Agent 1 through Agent 10 with each agent's contribution visible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4846320" y="2514600"/>
            <a:ext cx="3657600" cy="77724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25" name="Shape 18"/>
          <p:cNvSpPr/>
          <p:nvPr/>
        </p:nvSpPr>
        <p:spPr>
          <a:xfrm>
            <a:off x="4983480" y="2670048"/>
            <a:ext cx="457200" cy="45720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2761488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577840" y="2542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 Breakdown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5577840" y="28620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Per-dimension scoring with individual factor weights and explanations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731520" y="3474720"/>
            <a:ext cx="3657600" cy="77724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30" name="Shape 22"/>
          <p:cNvSpPr/>
          <p:nvPr/>
        </p:nvSpPr>
        <p:spPr>
          <a:xfrm>
            <a:off x="868680" y="3630168"/>
            <a:ext cx="457200" cy="45720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3721608"/>
            <a:ext cx="274320" cy="27432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463040" y="3502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Drivers</a:t>
            </a:r>
            <a:endParaRPr lang="en-US" sz="1200" dirty="0"/>
          </a:p>
        </p:txBody>
      </p:sp>
      <p:sp>
        <p:nvSpPr>
          <p:cNvPr id="33" name="Text 24"/>
          <p:cNvSpPr/>
          <p:nvPr/>
        </p:nvSpPr>
        <p:spPr>
          <a:xfrm>
            <a:off x="1463040" y="38221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drove the AI's confidence level — and where uncertainty remains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4846320" y="3474720"/>
            <a:ext cx="3657600" cy="77724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35" name="Shape 26"/>
          <p:cNvSpPr/>
          <p:nvPr/>
        </p:nvSpPr>
        <p:spPr>
          <a:xfrm>
            <a:off x="4983480" y="3630168"/>
            <a:ext cx="457200" cy="45720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4920" y="3721608"/>
            <a:ext cx="274320" cy="27432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577840" y="3502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Validation</a:t>
            </a:r>
            <a:endParaRPr lang="en-US" sz="1200" dirty="0"/>
          </a:p>
        </p:txBody>
      </p:sp>
      <p:sp>
        <p:nvSpPr>
          <p:cNvPr id="38" name="Text 28"/>
          <p:cNvSpPr/>
          <p:nvPr/>
        </p:nvSpPr>
        <p:spPr>
          <a:xfrm>
            <a:off x="5577840" y="38221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Contradiction checks and consensus scoring across all agent outputs</a:t>
            </a:r>
            <a:endParaRPr lang="en-US" sz="1000" dirty="0"/>
          </a:p>
        </p:txBody>
      </p:sp>
      <p:sp>
        <p:nvSpPr>
          <p:cNvPr id="39" name="Text 29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40" name="Text 30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OFFICE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Compliance Control Layer (Powered by Onboarda)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2468880" cy="137160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0" y="1325880"/>
            <a:ext cx="457200" cy="45720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4173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Validation Score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2148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decision quality-scored before officer review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566160" y="1188720"/>
            <a:ext cx="2468880" cy="137160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80560" y="1325880"/>
            <a:ext cx="457200" cy="45720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4173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49040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 Detection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749040" y="2148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Supervisor flags conflicting agent signals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400800" y="1188720"/>
            <a:ext cx="2468880" cy="137160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15200" y="1325880"/>
            <a:ext cx="457200" cy="45720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41732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83680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Escalation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583680" y="2148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Workflow-driven escalation to senior officers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731520" y="2834640"/>
            <a:ext cx="2468880" cy="137160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645920" y="2971800"/>
            <a:ext cx="457200" cy="45720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7360" y="306324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4400" y="3520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Controls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914400" y="3794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roles, 18 permissions, full RBAC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566160" y="2834640"/>
            <a:ext cx="2468880" cy="137160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480560" y="2971800"/>
            <a:ext cx="457200" cy="45720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063240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749040" y="3520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Logs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749040" y="3794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Immutable records: user, action, timestamp, IP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400800" y="2834640"/>
            <a:ext cx="2468880" cy="137160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7315200" y="2971800"/>
            <a:ext cx="457200" cy="45720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0" y="3063240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583680" y="3520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Workflow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583680" y="3794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Draft to filed — complete state machine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36" name="Text 28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ALIGNMENT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for Regulated Financial Institutions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3657600" cy="164592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143000"/>
            <a:ext cx="36576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325880"/>
            <a:ext cx="411480" cy="41148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1408176"/>
            <a:ext cx="246888" cy="2468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FSC / FIAMLA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05840" y="1783080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obligations &amp; STR reporting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05840" y="2020824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7-year data retention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05840" y="2258568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 licensing requirements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05840" y="249631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EDD triggers &amp; ongoing monitoring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846320" y="1143000"/>
            <a:ext cx="3657600" cy="164592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46320" y="1143000"/>
            <a:ext cx="36576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6" name="Shape 13"/>
          <p:cNvSpPr/>
          <p:nvPr/>
        </p:nvSpPr>
        <p:spPr>
          <a:xfrm>
            <a:off x="5029200" y="1325880"/>
            <a:ext cx="411480" cy="41148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1496" y="1408176"/>
            <a:ext cx="246888" cy="24688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57784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FATF Standards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5120640" y="1783080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Approach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5120640" y="2020824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5-dimension risk scoring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5120640" y="2258568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Due Diligence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5120640" y="249631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Due Diligence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731520" y="2971800"/>
            <a:ext cx="3657600" cy="164592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31520" y="2971800"/>
            <a:ext cx="36576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5" name="Shape 21"/>
          <p:cNvSpPr/>
          <p:nvPr/>
        </p:nvSpPr>
        <p:spPr>
          <a:xfrm>
            <a:off x="914400" y="3154680"/>
            <a:ext cx="411480" cy="41148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3236976"/>
            <a:ext cx="246888" cy="24688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46304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DPA 2017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1005840" y="3611880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gates built-in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1005840" y="3849624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minimisation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1005840" y="4087368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erasure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1005840" y="432511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DPIA-ready architecture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4846320" y="2971800"/>
            <a:ext cx="3657600" cy="164592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4846320" y="2971800"/>
            <a:ext cx="36576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4" name="Shape 29"/>
          <p:cNvSpPr/>
          <p:nvPr/>
        </p:nvSpPr>
        <p:spPr>
          <a:xfrm>
            <a:off x="5029200" y="3154680"/>
            <a:ext cx="411480" cy="41148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1496" y="3236976"/>
            <a:ext cx="246888" cy="24688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57784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&amp; AI Gov</a:t>
            </a:r>
            <a:endParaRPr lang="en-US" sz="1400" dirty="0"/>
          </a:p>
        </p:txBody>
      </p:sp>
      <p:sp>
        <p:nvSpPr>
          <p:cNvPr id="37" name="Text 31"/>
          <p:cNvSpPr/>
          <p:nvPr/>
        </p:nvSpPr>
        <p:spPr>
          <a:xfrm>
            <a:off x="5120640" y="3611880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defence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5120640" y="3849624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sanitisation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5120640" y="4087368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5120640" y="432511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auto-approval — ever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for FCA, AMLD6, CBUAE, MAS</a:t>
            </a:r>
            <a:endParaRPr lang="en-US" sz="1000" dirty="0"/>
          </a:p>
        </p:txBody>
      </p:sp>
      <p:sp>
        <p:nvSpPr>
          <p:cNvPr id="42" name="Text 36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43" name="Text 37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74320"/>
            <a:ext cx="411480" cy="41148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356616"/>
            <a:ext cx="246888" cy="2468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 &amp; Data Protection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731520" y="1097280"/>
            <a:ext cx="3657600" cy="96012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7" name="Shape 4"/>
          <p:cNvSpPr/>
          <p:nvPr/>
        </p:nvSpPr>
        <p:spPr>
          <a:xfrm>
            <a:off x="868680" y="1344168"/>
            <a:ext cx="457200" cy="45720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435608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11612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Minimisation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463040" y="15270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prompts sanitised — no raw PII sent to language models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846320" y="1097280"/>
            <a:ext cx="3657600" cy="96012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12" name="Shape 8"/>
          <p:cNvSpPr/>
          <p:nvPr/>
        </p:nvSpPr>
        <p:spPr>
          <a:xfrm>
            <a:off x="4983480" y="1344168"/>
            <a:ext cx="457200" cy="45720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435608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577840" y="11612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5577840" y="15270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PII encrypted at rest and in transit. JWT with httpOnly cookies.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731520" y="2286000"/>
            <a:ext cx="3657600" cy="96012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17" name="Shape 12"/>
          <p:cNvSpPr/>
          <p:nvPr/>
        </p:nvSpPr>
        <p:spPr>
          <a:xfrm>
            <a:off x="868680" y="2532888"/>
            <a:ext cx="457200" cy="45720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624328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23500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463040" y="27157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roles, 18 granular permissions. Principle of least privilege.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4846320" y="2286000"/>
            <a:ext cx="3657600" cy="96012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22" name="Shape 16"/>
          <p:cNvSpPr/>
          <p:nvPr/>
        </p:nvSpPr>
        <p:spPr>
          <a:xfrm>
            <a:off x="4983480" y="2532888"/>
            <a:ext cx="457200" cy="45720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2624328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577840" y="23500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Logs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5577840" y="27157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action: user, role, timestamp, IP address, details.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731520" y="3474720"/>
            <a:ext cx="3657600" cy="96012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27" name="Shape 20"/>
          <p:cNvSpPr/>
          <p:nvPr/>
        </p:nvSpPr>
        <p:spPr>
          <a:xfrm>
            <a:off x="868680" y="3721608"/>
            <a:ext cx="457200" cy="45720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3813048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463040" y="35387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Defence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1463040" y="39044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Pattern filtering, HTML stripping, input length limits on all AI-bound input.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4846320" y="3474720"/>
            <a:ext cx="3657600" cy="96012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32" name="Shape 24"/>
          <p:cNvSpPr/>
          <p:nvPr/>
        </p:nvSpPr>
        <p:spPr>
          <a:xfrm>
            <a:off x="4983480" y="3721608"/>
            <a:ext cx="457200" cy="45720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4920" y="3813048"/>
            <a:ext cx="274320" cy="27432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577840" y="35387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Ready</a:t>
            </a:r>
            <a:endParaRPr lang="en-US" sz="1300" dirty="0"/>
          </a:p>
        </p:txBody>
      </p:sp>
      <p:sp>
        <p:nvSpPr>
          <p:cNvPr id="35" name="Text 26"/>
          <p:cNvSpPr/>
          <p:nvPr/>
        </p:nvSpPr>
        <p:spPr>
          <a:xfrm>
            <a:off x="5577840" y="39044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File upload validation, XSS prevention, rate-limited endpoints.</a:t>
            </a:r>
            <a:endParaRPr lang="en-US" sz="1000" dirty="0"/>
          </a:p>
        </p:txBody>
      </p:sp>
      <p:sp>
        <p:nvSpPr>
          <p:cNvPr id="36" name="Text 27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37" name="Text 28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Onboarda Wins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7680960" cy="73152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280160"/>
            <a:ext cx="457200" cy="45720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3716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170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89120" y="1216152"/>
            <a:ext cx="1188720" cy="228600"/>
          </a:xfrm>
          <a:prstGeom prst="rect">
            <a:avLst/>
          </a:prstGeom>
          <a:solidFill>
            <a:srgbClr val="00C9A7">
              <a:alpha val="8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12161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554480" y="150876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Full decision transparency from agent to output. Competitors offer black-box scoring.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31520" y="2011680"/>
            <a:ext cx="7680960" cy="73152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13" name="Shape 10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24028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54480" y="2039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Memo Engine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389120" y="2084832"/>
            <a:ext cx="1188720" cy="228600"/>
          </a:xfrm>
          <a:prstGeom prst="rect">
            <a:avLst/>
          </a:prstGeom>
          <a:solidFill>
            <a:srgbClr val="00C9A7">
              <a:alpha val="80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4389120" y="20848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1554480" y="237744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Auto-generated, regulator-grade memos with reasoning chains. No competitor does this.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31520" y="2880360"/>
            <a:ext cx="7680960" cy="73152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20" name="Shape 16"/>
          <p:cNvSpPr/>
          <p:nvPr/>
        </p:nvSpPr>
        <p:spPr>
          <a:xfrm>
            <a:off x="914400" y="3017520"/>
            <a:ext cx="457200" cy="45720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10896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554480" y="2907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System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4389120" y="2953512"/>
            <a:ext cx="1188720" cy="228600"/>
          </a:xfrm>
          <a:prstGeom prst="rect">
            <a:avLst/>
          </a:prstGeom>
          <a:solidFill>
            <a:srgbClr val="00C9A7">
              <a:alpha val="80000"/>
            </a:srgbClr>
          </a:solidFill>
          <a:ln/>
        </p:spPr>
      </p:sp>
      <p:sp>
        <p:nvSpPr>
          <p:cNvPr id="24" name="Text 19"/>
          <p:cNvSpPr/>
          <p:nvPr/>
        </p:nvSpPr>
        <p:spPr>
          <a:xfrm>
            <a:off x="4389120" y="29535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1554480" y="324612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Deterministic rule engine prevents contradictory AI outputs. Essential for regulatory trust.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731520" y="3749040"/>
            <a:ext cx="7680960" cy="73152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27" name="Shape 22"/>
          <p:cNvSpPr/>
          <p:nvPr/>
        </p:nvSpPr>
        <p:spPr>
          <a:xfrm>
            <a:off x="914400" y="3886200"/>
            <a:ext cx="457200" cy="457200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977640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554480" y="3776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Layer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4389120" y="3822192"/>
            <a:ext cx="1188720" cy="228600"/>
          </a:xfrm>
          <a:prstGeom prst="rect">
            <a:avLst/>
          </a:prstGeom>
          <a:solidFill>
            <a:srgbClr val="00C9A7">
              <a:alpha val="80000"/>
            </a:srgbClr>
          </a:solidFill>
          <a:ln/>
        </p:spPr>
      </p:sp>
      <p:sp>
        <p:nvSpPr>
          <p:cNvPr id="31" name="Text 25"/>
          <p:cNvSpPr/>
          <p:nvPr/>
        </p:nvSpPr>
        <p:spPr>
          <a:xfrm>
            <a:off x="4389120" y="38221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1554480" y="411480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Multi-agent contradiction detection and consensus scoring. Architectural advantage.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replicate. Built over months of regulated-environment iteration.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DEFINITION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Existing Solutions Fall Short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3749040" cy="3337560"/>
          </a:xfrm>
          <a:prstGeom prst="rect">
            <a:avLst/>
          </a:prstGeom>
          <a:solidFill>
            <a:srgbClr val="1E223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51560"/>
            <a:ext cx="3749040" cy="36576"/>
          </a:xfrm>
          <a:prstGeom prst="rect">
            <a:avLst/>
          </a:prstGeom>
          <a:solidFill>
            <a:srgbClr val="7A8299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188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Compliance Tools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1600200"/>
            <a:ext cx="3291840" cy="658368"/>
          </a:xfrm>
          <a:prstGeom prst="rect">
            <a:avLst/>
          </a:prstGeom>
          <a:solidFill>
            <a:srgbClr val="252A3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09928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16184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/ Onboarding Tools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234440" y="18928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28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Form collection  •  Document upload  •  Workflow management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777240" y="2377440"/>
            <a:ext cx="3291840" cy="658368"/>
          </a:xfrm>
          <a:prstGeom prst="rect">
            <a:avLst/>
          </a:prstGeom>
          <a:solidFill>
            <a:srgbClr val="252A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48716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34440" y="23957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Providers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234440" y="26700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28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Sanctions / PEP checks  •  Adverse media  •  Data feeds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777240" y="3154680"/>
            <a:ext cx="3291840" cy="658368"/>
          </a:xfrm>
          <a:prstGeom prst="rect">
            <a:avLst/>
          </a:prstGeom>
          <a:solidFill>
            <a:srgbClr val="252A3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6440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34440" y="31729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Systems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234440" y="34472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28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Case management  •  Manual review  •  Approval chains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777240" y="40050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decision logic   </a:t>
            </a:r>
            <a:pPr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reasoning   </a:t>
            </a:r>
            <a:pPr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explainability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846320" y="1051560"/>
            <a:ext cx="3749040" cy="3337560"/>
          </a:xfrm>
          <a:prstGeom prst="rect">
            <a:avLst/>
          </a:prstGeom>
          <a:solidFill>
            <a:srgbClr val="1423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46320" y="1051560"/>
            <a:ext cx="374904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3" name="Text 18"/>
          <p:cNvSpPr/>
          <p:nvPr/>
        </p:nvSpPr>
        <p:spPr>
          <a:xfrm>
            <a:off x="5074920" y="1188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= Decision Infrastructure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074920" y="1554480"/>
            <a:ext cx="3291840" cy="475488"/>
          </a:xfrm>
          <a:prstGeom prst="rect">
            <a:avLst/>
          </a:prstGeom>
          <a:solidFill>
            <a:srgbClr val="1A3050"/>
          </a:solidFill>
          <a:ln/>
        </p:spPr>
      </p:sp>
      <p:sp>
        <p:nvSpPr>
          <p:cNvPr id="25" name="Shape 20"/>
          <p:cNvSpPr/>
          <p:nvPr/>
        </p:nvSpPr>
        <p:spPr>
          <a:xfrm>
            <a:off x="5166360" y="1618488"/>
            <a:ext cx="347472" cy="347472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54" y="1687982"/>
            <a:ext cx="208483" cy="208483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623560" y="15544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 Engine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5623560" y="17830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Multi-agent reasoning  •  Risk scoring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>
            <a:off x="5074920" y="2130552"/>
            <a:ext cx="3291840" cy="475488"/>
          </a:xfrm>
          <a:prstGeom prst="rect">
            <a:avLst/>
          </a:prstGeom>
          <a:solidFill>
            <a:srgbClr val="1A3050"/>
          </a:solidFill>
          <a:ln/>
        </p:spPr>
      </p:sp>
      <p:sp>
        <p:nvSpPr>
          <p:cNvPr id="30" name="Shape 24"/>
          <p:cNvSpPr/>
          <p:nvPr/>
        </p:nvSpPr>
        <p:spPr>
          <a:xfrm>
            <a:off x="5166360" y="2194560"/>
            <a:ext cx="347472" cy="347472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5854" y="2264054"/>
            <a:ext cx="208483" cy="208483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623560" y="21305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Memo Engine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5623560" y="23591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Regulator-grade outputs  •  Full decision rationale</a:t>
            </a:r>
            <a:endParaRPr lang="en-US" sz="800" dirty="0"/>
          </a:p>
        </p:txBody>
      </p:sp>
      <p:sp>
        <p:nvSpPr>
          <p:cNvPr id="34" name="Shape 27"/>
          <p:cNvSpPr/>
          <p:nvPr/>
        </p:nvSpPr>
        <p:spPr>
          <a:xfrm>
            <a:off x="5074920" y="2706624"/>
            <a:ext cx="3291840" cy="475488"/>
          </a:xfrm>
          <a:prstGeom prst="rect">
            <a:avLst/>
          </a:prstGeom>
          <a:solidFill>
            <a:srgbClr val="1A3050"/>
          </a:solidFill>
          <a:ln/>
        </p:spPr>
      </p:sp>
      <p:sp>
        <p:nvSpPr>
          <p:cNvPr id="35" name="Shape 28"/>
          <p:cNvSpPr/>
          <p:nvPr/>
        </p:nvSpPr>
        <p:spPr>
          <a:xfrm>
            <a:off x="5166360" y="2770632"/>
            <a:ext cx="347472" cy="347472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5854" y="2840126"/>
            <a:ext cx="208483" cy="208483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623560" y="270662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+ Supervisor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5623560" y="293522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contradictions  •  Quality scoring</a:t>
            </a:r>
            <a:endParaRPr lang="en-US" sz="800" dirty="0"/>
          </a:p>
        </p:txBody>
      </p:sp>
      <p:sp>
        <p:nvSpPr>
          <p:cNvPr id="39" name="Shape 31"/>
          <p:cNvSpPr/>
          <p:nvPr/>
        </p:nvSpPr>
        <p:spPr>
          <a:xfrm>
            <a:off x="5074920" y="3282696"/>
            <a:ext cx="3291840" cy="475488"/>
          </a:xfrm>
          <a:prstGeom prst="rect">
            <a:avLst/>
          </a:prstGeom>
          <a:solidFill>
            <a:srgbClr val="1A3050"/>
          </a:solidFill>
          <a:ln/>
        </p:spPr>
      </p:sp>
      <p:sp>
        <p:nvSpPr>
          <p:cNvPr id="40" name="Shape 32"/>
          <p:cNvSpPr/>
          <p:nvPr/>
        </p:nvSpPr>
        <p:spPr>
          <a:xfrm>
            <a:off x="5166360" y="3346704"/>
            <a:ext cx="347472" cy="347472"/>
          </a:xfrm>
          <a:prstGeom prst="ellipse">
            <a:avLst/>
          </a:prstGeom>
          <a:solidFill>
            <a:srgbClr val="243252"/>
          </a:solidFill>
          <a:ln/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5854" y="3416198"/>
            <a:ext cx="208483" cy="208483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5623560" y="328269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Layer</a:t>
            </a:r>
            <a:endParaRPr lang="en-US" sz="1000" dirty="0"/>
          </a:p>
        </p:txBody>
      </p:sp>
      <p:sp>
        <p:nvSpPr>
          <p:cNvPr id="43" name="Text 34"/>
          <p:cNvSpPr/>
          <p:nvPr/>
        </p:nvSpPr>
        <p:spPr>
          <a:xfrm>
            <a:off x="5623560" y="351129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Full audit trail  •  Transparent logic</a:t>
            </a:r>
            <a:endParaRPr lang="en-US" sz="800" dirty="0"/>
          </a:p>
        </p:txBody>
      </p:sp>
      <p:sp>
        <p:nvSpPr>
          <p:cNvPr id="44" name="Text 35"/>
          <p:cNvSpPr/>
          <p:nvPr/>
        </p:nvSpPr>
        <p:spPr>
          <a:xfrm>
            <a:off x="5074920" y="40050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&amp; Workflow → Decision &amp; Governance</a:t>
            </a:r>
            <a:endParaRPr lang="en-US" sz="1000" dirty="0"/>
          </a:p>
        </p:txBody>
      </p:sp>
      <p:sp>
        <p:nvSpPr>
          <p:cNvPr id="45" name="Shape 36"/>
          <p:cNvSpPr/>
          <p:nvPr/>
        </p:nvSpPr>
        <p:spPr>
          <a:xfrm>
            <a:off x="548640" y="4343400"/>
            <a:ext cx="8046720" cy="22860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46" name="Text 37"/>
          <p:cNvSpPr/>
          <p:nvPr/>
        </p:nvSpPr>
        <p:spPr>
          <a:xfrm>
            <a:off x="731520" y="434340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ComplyAdvantage, Refinitiv = Data    |    Sumsub, Trulioo = Onboarding    |    Fenergo = Workflow    |    None provide decision infrastructure</a:t>
            </a:r>
            <a:endParaRPr lang="en-US" sz="800" dirty="0"/>
          </a:p>
        </p:txBody>
      </p:sp>
      <p:sp>
        <p:nvSpPr>
          <p:cNvPr id="47" name="Text 38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48" name="Text 39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Financial Institution Needs This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828800" cy="182880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280160"/>
            <a:ext cx="18288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$19B+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68680" y="2240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RegTech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by 2028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1280160"/>
            <a:ext cx="1828800" cy="182880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834640" y="1280160"/>
            <a:ext cx="18288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1" name="Text 9"/>
          <p:cNvSpPr/>
          <p:nvPr/>
        </p:nvSpPr>
        <p:spPr>
          <a:xfrm>
            <a:off x="2834640" y="1463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971800" y="2240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1280160"/>
            <a:ext cx="1828800" cy="182880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37760" y="1280160"/>
            <a:ext cx="18288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463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8,000+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074920" y="2240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PSPs &amp; CSPs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EU/EEA alone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40880" y="1280160"/>
            <a:ext cx="1828800" cy="182880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040880" y="1280160"/>
            <a:ext cx="18288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0" y="1463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$5-15K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178040" y="2240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manual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onboarding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474720"/>
            <a:ext cx="7680960" cy="91440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05840" y="3520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compliance decision infrastructure is a new category.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0584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Increasing regulatory pressure + AI adoption = massive demand for explainable, automated compliance decisions.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With a Regulated Partner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7680960" cy="155448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188720"/>
            <a:ext cx="768096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ARIE Finance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7373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FSC-Licensed Payment Intermediary Service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20574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Pilot-ready platform developed under real regulatory requirements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3774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 underlying clients to be onboarded through Onboarda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6974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compliance workflow tested with regulated use case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108960"/>
            <a:ext cx="2468880" cy="118872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108960"/>
            <a:ext cx="246888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246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005840" y="3794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66160" y="3108960"/>
            <a:ext cx="2468880" cy="118872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566160" y="3108960"/>
            <a:ext cx="246888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8" name="Text 16"/>
          <p:cNvSpPr/>
          <p:nvPr/>
        </p:nvSpPr>
        <p:spPr>
          <a:xfrm>
            <a:off x="3566160" y="3246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840480" y="3794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3108960"/>
            <a:ext cx="2468880" cy="118872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3108960"/>
            <a:ext cx="246888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3246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675120" y="3794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Recurring Revenue + Scale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2468880" cy="301752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097280"/>
            <a:ext cx="2468880" cy="36576"/>
          </a:xfrm>
          <a:prstGeom prst="rect">
            <a:avLst/>
          </a:prstGeom>
          <a:solidFill>
            <a:srgbClr val="24325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234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600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$1,500/mo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30 applications/mo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2404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AI agents active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27523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user seats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3099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portal (white-label)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0120" y="3447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risk model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66160" y="1097280"/>
            <a:ext cx="2468880" cy="3017520"/>
          </a:xfrm>
          <a:prstGeom prst="rect">
            <a:avLst/>
          </a:prstGeom>
          <a:solidFill>
            <a:srgbClr val="24325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566160" y="1097280"/>
            <a:ext cx="246888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6" name="Shape 14"/>
          <p:cNvSpPr/>
          <p:nvPr/>
        </p:nvSpPr>
        <p:spPr>
          <a:xfrm>
            <a:off x="3931920" y="932688"/>
            <a:ext cx="1737360" cy="2286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7" name="Text 15"/>
          <p:cNvSpPr/>
          <p:nvPr/>
        </p:nvSpPr>
        <p:spPr>
          <a:xfrm>
            <a:off x="3931920" y="93268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749040" y="1234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Professional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49040" y="1600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$3,500/mo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79476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100 applications/mo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94760" y="2404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AI agents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94760" y="27523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user seats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94760" y="3099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back-office suite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94760" y="3447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 + SLA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0" y="1097280"/>
            <a:ext cx="2468880" cy="301752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0" y="1097280"/>
            <a:ext cx="2468880" cy="36576"/>
          </a:xfrm>
          <a:prstGeom prst="rect">
            <a:avLst/>
          </a:prstGeom>
          <a:solidFill>
            <a:srgbClr val="243252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1234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83680" y="1600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62940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applications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29400" y="2404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AI agent rules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29400" y="27523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seats + SSO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629400" y="3099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Multi-jurisdiction config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629400" y="3447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account manager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1520" y="4251960"/>
            <a:ext cx="7680960" cy="320040"/>
          </a:xfrm>
          <a:prstGeom prst="rect">
            <a:avLst/>
          </a:prstGeom>
          <a:solidFill>
            <a:srgbClr val="243252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4251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white-label onboarding + AI engine  |  One-time setup fee from $5,000  |  Annual licence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Efficiency + Risk Reduction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828800" cy="237744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188720"/>
            <a:ext cx="18288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5603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15 days to under 48 hours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34640" y="1188720"/>
            <a:ext cx="1828800" cy="237744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834640" y="1188720"/>
            <a:ext cx="18288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2" name="Text 10"/>
          <p:cNvSpPr/>
          <p:nvPr/>
        </p:nvSpPr>
        <p:spPr>
          <a:xfrm>
            <a:off x="283464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10x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971800" y="2057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71800" y="25603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Handle 10x volume without hiring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7760" y="1188720"/>
            <a:ext cx="1828800" cy="237744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37760" y="1188720"/>
            <a:ext cx="18288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074920" y="2057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25603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handles screening, scoring, memos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40880" y="1188720"/>
            <a:ext cx="1828800" cy="237744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40880" y="1188720"/>
            <a:ext cx="18288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7178040" y="2057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78040" y="25603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Standardised logic, zero analyst variance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3931920"/>
            <a:ext cx="7680960" cy="640080"/>
          </a:xfrm>
          <a:prstGeom prst="rect">
            <a:avLst/>
          </a:prstGeom>
          <a:solidFill>
            <a:srgbClr val="243252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" y="3931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50+ onboardings per year, the platform pays for itself within months.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Building the Compliance Layer of the Future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7680960" cy="2743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6" name="Shape 4"/>
          <p:cNvSpPr/>
          <p:nvPr/>
        </p:nvSpPr>
        <p:spPr>
          <a:xfrm>
            <a:off x="1783080" y="1069848"/>
            <a:ext cx="457200" cy="45720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1783080" y="1069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3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1691640"/>
            <a:ext cx="2194560" cy="265176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1691640"/>
            <a:ext cx="219456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103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24688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onboarding portal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51560" y="281635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 engine (10 agents)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51560" y="316382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memo generation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51560" y="351129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framework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43400" y="1069848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7" name="Text 15"/>
          <p:cNvSpPr/>
          <p:nvPr/>
        </p:nvSpPr>
        <p:spPr>
          <a:xfrm>
            <a:off x="4343400" y="1069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474720" y="1691640"/>
            <a:ext cx="2194560" cy="265176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0" y="1691640"/>
            <a:ext cx="219456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0" name="Text 18"/>
          <p:cNvSpPr/>
          <p:nvPr/>
        </p:nvSpPr>
        <p:spPr>
          <a:xfrm>
            <a:off x="361188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11880" y="2103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11880" y="24688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 architecture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11880" y="281635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third-party integrations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11880" y="316382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dashboards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11880" y="351129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reporting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03720" y="1069848"/>
            <a:ext cx="457200" cy="45720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27" name="Text 25"/>
          <p:cNvSpPr/>
          <p:nvPr/>
        </p:nvSpPr>
        <p:spPr>
          <a:xfrm>
            <a:off x="6903720" y="1069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035040" y="1691640"/>
            <a:ext cx="2194560" cy="265176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35040" y="1691640"/>
            <a:ext cx="2194560" cy="36576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30" name="Text 28"/>
          <p:cNvSpPr/>
          <p:nvPr/>
        </p:nvSpPr>
        <p:spPr>
          <a:xfrm>
            <a:off x="617220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172200" y="2103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72200" y="24688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framework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72200" y="281635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jurisdiction expansion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72200" y="316382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for compliance rules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72200" y="351129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certification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Default AI compliance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infrastructure globally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0" y="2834640"/>
            <a:ext cx="1828800" cy="2743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a product — a platform layer.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 to Transform Your</a:t>
            </a:r>
            <a:endParaRPr lang="en-US" sz="3000" dirty="0"/>
          </a:p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Compliance Operations?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2468880" cy="164592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0" y="2331720"/>
            <a:ext cx="502920" cy="50292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3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Call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30-minute session to understand your compliance requirements and pain points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66160" y="2194560"/>
            <a:ext cx="2468880" cy="164592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2331720"/>
            <a:ext cx="502920" cy="50292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3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49040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Demo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49040" y="3246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Live walkthrough of the platform configured for your specific use case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0" y="2194560"/>
            <a:ext cx="2468880" cy="164592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0" y="2331720"/>
            <a:ext cx="502920" cy="50292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3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83680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Launch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0" y="3246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4-week proof-of-concept with your real data and compliance workflows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60520"/>
            <a:ext cx="7680960" cy="27432"/>
          </a:xfrm>
          <a:prstGeom prst="rect">
            <a:avLst/>
          </a:prstGeom>
          <a:solidFill>
            <a:srgbClr val="00C9A7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3434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asudally@ariefinance.mu  |  ariefinance.mu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Onboarda — AI Compliance Decision Engine</dc:title>
  <dc:subject>PptxGenJS Presentation</dc:subject>
  <dc:creator>Onboarda</dc:creator>
  <cp:lastModifiedBy>Onboarda</cp:lastModifiedBy>
  <cp:revision>1</cp:revision>
  <dcterms:created xsi:type="dcterms:W3CDTF">2026-03-22T07:25:57Z</dcterms:created>
  <dcterms:modified xsi:type="dcterms:W3CDTF">2026-03-22T07:25:57Z</dcterms:modified>
</cp:coreProperties>
</file>