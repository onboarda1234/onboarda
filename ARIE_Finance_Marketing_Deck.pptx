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27432" cy="5143500"/>
          </a:xfrm>
          <a:prstGeom prst="rect">
            <a:avLst/>
          </a:prstGeom>
          <a:solidFill>
            <a:srgbClr val="F5A62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F5A623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8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ARIE FINANCE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AML/CFT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Platform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onboarding. Automated risk scoring.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Mauritius-licensed Payment Intermediary Services.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D5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63440"/>
            <a:ext cx="7315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FSC-Licensed  |  FATF-Aligned  |  Data Protection Act 2017 Compliant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B2F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Traditional Onboarding is Broken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64008" cy="1417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Processing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9659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onboarding takes 5-15 days with manual reviews, paper forms, and back-and-forth requests.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63040"/>
            <a:ext cx="64008" cy="1417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Risk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9659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screening misses PEPs, sanctions changes, and adverse media — exposing firms to regulatory penalties.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154680"/>
            <a:ext cx="64008" cy="1417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Fragmented Workflow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657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tools for KYC, screening, risk scoring, and document verification create audit gaps.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15468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154680"/>
            <a:ext cx="64008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9496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Operational Cost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3657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compliance officer can only handle 5-8 cases/week. Scaling means hiring, not optimising.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Platform. End-to-End Compliance.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560320" cy="3017520"/>
          </a:xfrm>
          <a:prstGeom prst="rect">
            <a:avLst/>
          </a:prstGeom>
          <a:solidFill>
            <a:srgbClr val="1A1D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Portal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onboarding wizard with pre-screening, document upload, PEP declarations, and consent gates.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417320"/>
            <a:ext cx="2560320" cy="3017520"/>
          </a:xfrm>
          <a:prstGeom prst="rect">
            <a:avLst/>
          </a:prstGeom>
          <a:solidFill>
            <a:srgbClr val="1A1D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417320"/>
            <a:ext cx="25603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645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6616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Engine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26974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specialised agents for risk scoring, document verification, sanctions screening, and compliance memo generation.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2560320" cy="3017520"/>
          </a:xfrm>
          <a:prstGeom prst="rect">
            <a:avLst/>
          </a:prstGeom>
          <a:solidFill>
            <a:srgbClr val="1A1D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17320"/>
            <a:ext cx="256032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645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 Office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26974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dashboard with case management, EDD pipeline, KPI analytics, RBAC, and audit trail.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B2F8F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617720"/>
            <a:ext cx="20116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AI Agents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4617720"/>
            <a:ext cx="20116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Document Checks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617720"/>
            <a:ext cx="20116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Risk Dimensions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0" y="4617720"/>
            <a:ext cx="20116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User Roles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B2F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RISK SCORING ENGINE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FATF-Aligned, 5-Dimension Weighted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Entity Risk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18488"/>
            <a:ext cx="3840480" cy="164592"/>
          </a:xfrm>
          <a:prstGeom prst="rect">
            <a:avLst/>
          </a:prstGeom>
          <a:solidFill>
            <a:srgbClr val="F1F3F9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18488"/>
            <a:ext cx="3840480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325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Risk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58568"/>
            <a:ext cx="3840480" cy="164592"/>
          </a:xfrm>
          <a:prstGeom prst="rect">
            <a:avLst/>
          </a:prstGeom>
          <a:solidFill>
            <a:srgbClr val="F1F3F9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258568"/>
            <a:ext cx="3200400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965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Service Risk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98648"/>
            <a:ext cx="3840480" cy="164592"/>
          </a:xfrm>
          <a:prstGeom prst="rect">
            <a:avLst/>
          </a:prstGeom>
          <a:solidFill>
            <a:srgbClr val="F1F3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898648"/>
            <a:ext cx="2560320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/ Sector Risk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38728"/>
            <a:ext cx="3840480" cy="164592"/>
          </a:xfrm>
          <a:prstGeom prst="rect">
            <a:avLst/>
          </a:prstGeom>
          <a:solidFill>
            <a:srgbClr val="F1F3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538728"/>
            <a:ext cx="1920240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3246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Channel Risk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78808"/>
            <a:ext cx="3840480" cy="164592"/>
          </a:xfrm>
          <a:prstGeom prst="rect">
            <a:avLst/>
          </a:prstGeom>
          <a:solidFill>
            <a:srgbClr val="F1F3F9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178808"/>
            <a:ext cx="1280160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3886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03520" y="1234440"/>
            <a:ext cx="34747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Routing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0" y="1874520"/>
            <a:ext cx="31089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0" y="1874520"/>
            <a:ext cx="54864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0" y="1874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Lane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18745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0–39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80960" y="18745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day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0" y="2514600"/>
            <a:ext cx="3108960" cy="5029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0" y="251460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0" y="2514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Review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2514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40–54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80960" y="2514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0" y="3154680"/>
            <a:ext cx="3108960" cy="5029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8" name="Shape 36"/>
          <p:cNvSpPr/>
          <p:nvPr/>
        </p:nvSpPr>
        <p:spPr>
          <a:xfrm>
            <a:off x="5486400" y="3154680"/>
            <a:ext cx="54864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5669280" y="3154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DD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0" y="3154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55–69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680960" y="3154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days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0" y="3794760"/>
            <a:ext cx="310896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3" name="Shape 41"/>
          <p:cNvSpPr/>
          <p:nvPr/>
        </p:nvSpPr>
        <p:spPr>
          <a:xfrm>
            <a:off x="5486400" y="3794760"/>
            <a:ext cx="54864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4" name="Text 42"/>
          <p:cNvSpPr/>
          <p:nvPr/>
        </p:nvSpPr>
        <p:spPr>
          <a:xfrm>
            <a:off x="5669280" y="3794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58000" y="37947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70–100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680960" y="37947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7–14 days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10-AGENT AI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Automation at Every Stage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572768" cy="1554480"/>
          </a:xfrm>
          <a:prstGeom prst="rect">
            <a:avLst/>
          </a:prstGeom>
          <a:solidFill>
            <a:srgbClr val="1A1D5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157276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63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VPN, duplicate checks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84832" y="1280160"/>
            <a:ext cx="1572768" cy="1554480"/>
          </a:xfrm>
          <a:prstGeom prst="rect">
            <a:avLst/>
          </a:prstGeom>
          <a:solidFill>
            <a:srgbClr val="1A1D5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1280160"/>
            <a:ext cx="157276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2084832" y="1463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76272" y="18288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Pre-Screening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76272" y="21945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&amp; model plausibility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03904" y="1280160"/>
            <a:ext cx="1572768" cy="1554480"/>
          </a:xfrm>
          <a:prstGeom prst="rect">
            <a:avLst/>
          </a:prstGeom>
          <a:solidFill>
            <a:srgbClr val="1A1D5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03904" y="1280160"/>
            <a:ext cx="157276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3803904" y="1463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95344" y="18288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Verification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95344" y="21945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automated checks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22976" y="1280160"/>
            <a:ext cx="1572768" cy="1554480"/>
          </a:xfrm>
          <a:prstGeom prst="rect">
            <a:avLst/>
          </a:prstGeom>
          <a:solidFill>
            <a:srgbClr val="1A1D5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22976" y="1280160"/>
            <a:ext cx="157276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5522976" y="1463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14416" y="18288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Narrative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14416" y="21945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&amp; benchmark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42048" y="1280160"/>
            <a:ext cx="1572768" cy="1554480"/>
          </a:xfrm>
          <a:prstGeom prst="rect">
            <a:avLst/>
          </a:prstGeom>
          <a:solidFill>
            <a:srgbClr val="1A1D5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42048" y="1280160"/>
            <a:ext cx="157276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7242048" y="1463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33488" y="18288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UBO Verification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33488" y="21945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chain trace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108960"/>
            <a:ext cx="1572768" cy="1554480"/>
          </a:xfrm>
          <a:prstGeom prst="rect">
            <a:avLst/>
          </a:prstGeom>
          <a:solidFill>
            <a:srgbClr val="1A1D5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108960"/>
            <a:ext cx="157276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2918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57200" y="36576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FinCrime Intel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0233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Sanctions, PEP, media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084832" y="3108960"/>
            <a:ext cx="1572768" cy="1554480"/>
          </a:xfrm>
          <a:prstGeom prst="rect">
            <a:avLst/>
          </a:prstGeom>
          <a:solidFill>
            <a:srgbClr val="1A1D5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084832" y="3108960"/>
            <a:ext cx="157276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7" name="Text 35"/>
          <p:cNvSpPr/>
          <p:nvPr/>
        </p:nvSpPr>
        <p:spPr>
          <a:xfrm>
            <a:off x="2084832" y="32918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176272" y="36576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Funds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176272" y="40233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Plausibility analysis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03904" y="3108960"/>
            <a:ext cx="1572768" cy="1554480"/>
          </a:xfrm>
          <a:prstGeom prst="rect">
            <a:avLst/>
          </a:prstGeom>
          <a:solidFill>
            <a:srgbClr val="1A1D5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803904" y="3108960"/>
            <a:ext cx="157276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2" name="Text 40"/>
          <p:cNvSpPr/>
          <p:nvPr/>
        </p:nvSpPr>
        <p:spPr>
          <a:xfrm>
            <a:off x="3803904" y="32918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3895344" y="36576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Decision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895344" y="40233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5-dim composite score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522976" y="3108960"/>
            <a:ext cx="1572768" cy="1554480"/>
          </a:xfrm>
          <a:prstGeom prst="rect">
            <a:avLst/>
          </a:prstGeom>
          <a:solidFill>
            <a:srgbClr val="1A1D5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522976" y="3108960"/>
            <a:ext cx="157276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7" name="Text 45"/>
          <p:cNvSpPr/>
          <p:nvPr/>
        </p:nvSpPr>
        <p:spPr>
          <a:xfrm>
            <a:off x="5522976" y="32918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5614416" y="36576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Memo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614416" y="40233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report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242048" y="3108960"/>
            <a:ext cx="1572768" cy="1554480"/>
          </a:xfrm>
          <a:prstGeom prst="rect">
            <a:avLst/>
          </a:prstGeom>
          <a:solidFill>
            <a:srgbClr val="1A1D5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242048" y="3108960"/>
            <a:ext cx="157276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2" name="Text 50"/>
          <p:cNvSpPr/>
          <p:nvPr/>
        </p:nvSpPr>
        <p:spPr>
          <a:xfrm>
            <a:off x="7242048" y="32918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7333488" y="36576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333488" y="40233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rescreening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B2F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BACK OFFICE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Visibility. Complete Control.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2606040" cy="45720"/>
          </a:xfrm>
          <a:prstGeom prst="rect">
            <a:avLst/>
          </a:prstGeom>
          <a:solidFill>
            <a:srgbClr val="2B2F8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Review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case detail with AI risk bars, agent results, and compliance memo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280160"/>
            <a:ext cx="2606040" cy="45720"/>
          </a:xfrm>
          <a:prstGeom prst="rect">
            <a:avLst/>
          </a:prstGeom>
          <a:solidFill>
            <a:srgbClr val="2B2F8F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93192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Management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1874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Assign, escalate, and track every application across the team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280160"/>
            <a:ext cx="2606040" cy="45720"/>
          </a:xfrm>
          <a:prstGeom prst="rect">
            <a:avLst/>
          </a:prstGeom>
          <a:solidFill>
            <a:srgbClr val="2B2F8F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6656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EDD Pipeline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1874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enhanced due diligence workflow with senior CO sign-off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97180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971800"/>
            <a:ext cx="2606040" cy="45720"/>
          </a:xfrm>
          <a:prstGeom prst="rect">
            <a:avLst/>
          </a:prstGeom>
          <a:solidFill>
            <a:srgbClr val="2B2F8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9728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566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metrics across operations, risk quality, AI performance, and team productivity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297180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2971800"/>
            <a:ext cx="2606040" cy="45720"/>
          </a:xfrm>
          <a:prstGeom prst="rect">
            <a:avLst/>
          </a:prstGeom>
          <a:solidFill>
            <a:srgbClr val="2B2F8F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93192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Screening Queue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20440" y="3566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Sanctions, PEP, and adverse media screening status per person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297180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971800"/>
            <a:ext cx="2606040" cy="45720"/>
          </a:xfrm>
          <a:prstGeom prst="rect">
            <a:avLst/>
          </a:prstGeom>
          <a:solidFill>
            <a:srgbClr val="2B2F8F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76656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55080" y="3566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with timestamp, user, role, IP address, and details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434840"/>
            <a:ext cx="8229600" cy="502920"/>
          </a:xfrm>
          <a:prstGeom prst="rect">
            <a:avLst/>
          </a:prstGeom>
          <a:solidFill>
            <a:srgbClr val="F1F3F9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Control:  Administrator  |  Senior CO  |  Compliance Officer  |  Analyst  —  18 granular permissions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COMPLIANCE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Mauritius Regulatory Framework Aligned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914400"/>
          </a:xfrm>
          <a:prstGeom prst="rect">
            <a:avLst/>
          </a:prstGeom>
          <a:solidFill>
            <a:srgbClr val="1A1D5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54864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FIAMLA 2002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1280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Anti-money laundering obligations, STR reporting, 7-year data retention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914400"/>
          </a:xfrm>
          <a:prstGeom prst="rect">
            <a:avLst/>
          </a:prstGeom>
          <a:solidFill>
            <a:srgbClr val="1A1D5E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280160"/>
            <a:ext cx="54864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80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FIAMLR 2018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1280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declaration requirements, enhanced due diligence triggers, ongoing monitoring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3931920" cy="914400"/>
          </a:xfrm>
          <a:prstGeom prst="rect">
            <a:avLst/>
          </a:prstGeom>
          <a:solidFill>
            <a:srgbClr val="1A1D5E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423160"/>
            <a:ext cx="54864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423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FSC Act 2007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2423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requirements for Payment Intermediary Services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3931920" cy="914400"/>
          </a:xfrm>
          <a:prstGeom prst="rect">
            <a:avLst/>
          </a:prstGeom>
          <a:solidFill>
            <a:srgbClr val="1A1D5E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42316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423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FATF Standards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423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Approach methodology, 5-dimension scoring aligned with 2012 Recommendations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3931920" cy="914400"/>
          </a:xfrm>
          <a:prstGeom prst="rect">
            <a:avLst/>
          </a:prstGeom>
          <a:solidFill>
            <a:srgbClr val="1A1D5E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566160"/>
            <a:ext cx="54864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DPA 2017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1168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Act consent gates, data minimisation, right to erasure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solidFill>
            <a:srgbClr val="1A1D5E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3566160"/>
            <a:ext cx="54864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Banking Act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Secrecy Act provisions, KYC obligations for financial intermediaries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is configurable to adapt to other jurisdictions — UK (FCA), EU (AMLD6), UAE (CBUAE), Singapore (MAS).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B2F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Flexible Plans for Every Stage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4300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USD 1,500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22860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77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 to 30 applications/month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AI agents active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user seats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Client portal (white-label)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support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Standard risk model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114300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143000"/>
            <a:ext cx="26517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Shape 11"/>
          <p:cNvSpPr/>
          <p:nvPr/>
        </p:nvSpPr>
        <p:spPr>
          <a:xfrm>
            <a:off x="5074920" y="1005840"/>
            <a:ext cx="914400" cy="23774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10058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1188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1188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USD 3,500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3611880" y="2240280"/>
            <a:ext cx="22860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2377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 to 100 applications/month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10 AI agents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 user seats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back-office suite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KPI dashboard &amp; reports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 + SLA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114300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143000"/>
            <a:ext cx="2651760" cy="54864"/>
          </a:xfrm>
          <a:prstGeom prst="rect">
            <a:avLst/>
          </a:prstGeom>
          <a:solidFill>
            <a:srgbClr val="2B2F8F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492240" y="2240280"/>
            <a:ext cx="22860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2377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applications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AI agent rules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seats + SSO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Multi-jurisdiction config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account manager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access + integrations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solidFill>
            <a:srgbClr val="F1F3F9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663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 include: one-time setup fee (from USD 5,000)  |  Annual licence  |  Free updates  |  Data hosted in Mauritius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B2F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ARIE FINANCE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Competitive Advantage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173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286000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Onboarding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2.4 days vs industry 15 days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4173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Accuracy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flag rate across agents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1089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28600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Checks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verification rules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31089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99.8%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9224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Uptime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reliability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27432" cy="5143500"/>
          </a:xfrm>
          <a:prstGeom prst="rect">
            <a:avLst/>
          </a:prstGeom>
          <a:solidFill>
            <a:srgbClr val="F5A62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ARIE FINANCE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Transform Your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Operations?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2560320" cy="1051560"/>
          </a:xfrm>
          <a:prstGeom prst="rect">
            <a:avLst/>
          </a:prstGeom>
          <a:solidFill>
            <a:srgbClr val="1A1D5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926080"/>
            <a:ext cx="256032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Call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session to understand your requirements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0" y="2926080"/>
            <a:ext cx="2560320" cy="1051560"/>
          </a:xfrm>
          <a:prstGeom prst="rect">
            <a:avLst/>
          </a:prstGeom>
          <a:solidFill>
            <a:srgbClr val="1A1D5E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2926080"/>
            <a:ext cx="256032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2336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Tailored Demo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2336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of the platform configured for your use case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2926080"/>
            <a:ext cx="2560320" cy="1051560"/>
          </a:xfrm>
          <a:prstGeom prst="rect">
            <a:avLst/>
          </a:prstGeom>
          <a:solidFill>
            <a:srgbClr val="1A1D5E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2926080"/>
            <a:ext cx="256032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 Launch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proof-of-concept with your real data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160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asudally@ariefinance.mu  |  +230 XXX XXXX  |  ariefinance.mu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ARIE Finance — AI-Powered AML/CFT Compliance Platform</dc:title>
  <dc:subject>PptxGenJS Presentation</dc:subject>
  <dc:creator>ARIE Finance Ltd</dc:creator>
  <cp:lastModifiedBy>ARIE Finance Ltd</cp:lastModifiedBy>
  <cp:revision>1</cp:revision>
  <dcterms:created xsi:type="dcterms:W3CDTF">2026-03-13T04:49:24Z</dcterms:created>
  <dcterms:modified xsi:type="dcterms:W3CDTF">2026-03-13T04:49:24Z</dcterms:modified>
</cp:coreProperties>
</file>